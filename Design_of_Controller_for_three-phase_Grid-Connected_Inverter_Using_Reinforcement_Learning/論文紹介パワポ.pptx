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0" r:id="rId4"/>
    <p:sldId id="264" r:id="rId5"/>
    <p:sldId id="261" r:id="rId6"/>
    <p:sldId id="265" r:id="rId7"/>
    <p:sldId id="262" r:id="rId8"/>
    <p:sldId id="266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5107" autoAdjust="0"/>
  </p:normalViewPr>
  <p:slideViewPr>
    <p:cSldViewPr snapToGrid="0">
      <p:cViewPr varScale="1">
        <p:scale>
          <a:sx n="115" d="100"/>
          <a:sy n="115" d="100"/>
        </p:scale>
        <p:origin x="74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C8E92A-ACD5-4BB2-BB82-C13E78ACB96C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7D9654-7C46-420E-A93D-1E6EABEEBC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0203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D39427-C9CC-9FFD-1626-FAC448A86A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4B4B6D4-7517-3B96-3079-5C1A7C2C14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7556B07-A791-DEB2-8C27-975D94CF3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111BC-1026-41FD-925F-FB719F3328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3057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A5466A-D634-5A96-8202-7766E9458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640" y="199155"/>
            <a:ext cx="11756720" cy="690193"/>
          </a:xfrm>
        </p:spPr>
        <p:txBody>
          <a:bodyPr>
            <a:normAutofit/>
          </a:bodyPr>
          <a:lstStyle>
            <a:lvl1pPr>
              <a:defRPr sz="2800" b="1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BBFFE8-A1B3-8C9F-1E6A-EF88481A24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640" y="1114816"/>
            <a:ext cx="11756720" cy="523527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88BBAD-8681-20F3-C28F-979996FC6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18980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F60111BC-1026-41FD-925F-FB719F33286F}" type="slidenum">
              <a:rPr lang="ja-JP" altLang="en-US" smtClean="0"/>
              <a:pPr/>
              <a:t>‹#›</a:t>
            </a:fld>
            <a:endParaRPr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54E8A269-8737-9D54-34F7-DED33506F180}"/>
              </a:ext>
            </a:extLst>
          </p:cNvPr>
          <p:cNvCxnSpPr/>
          <p:nvPr userDrawn="1"/>
        </p:nvCxnSpPr>
        <p:spPr>
          <a:xfrm>
            <a:off x="251825" y="820455"/>
            <a:ext cx="11688349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1743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94A8A6F-FB66-CF93-D320-61D9C7E8F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69706C-BF52-326D-1C69-694CB9CCAB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666C31-6851-6BB7-C5F5-B9365FD3B4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24400" y="641771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fld id="{F60111BC-1026-41FD-925F-FB719F33286F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979254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ww.geolab.jp/documents/column/ai-012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EB17879-43D7-D0F7-AAF9-092E49F3AF6C}"/>
              </a:ext>
            </a:extLst>
          </p:cNvPr>
          <p:cNvSpPr txBox="1"/>
          <p:nvPr/>
        </p:nvSpPr>
        <p:spPr>
          <a:xfrm>
            <a:off x="7755834" y="6230949"/>
            <a:ext cx="38696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dirty="0"/>
              <a:t>資料作成 </a:t>
            </a:r>
            <a:r>
              <a:rPr lang="en-US" altLang="ja-JP" dirty="0"/>
              <a:t>: AE22042 </a:t>
            </a:r>
            <a:r>
              <a:rPr lang="ja-JP" altLang="en-US" dirty="0"/>
              <a:t>福万恭平</a:t>
            </a:r>
          </a:p>
        </p:txBody>
      </p:sp>
      <p:sp>
        <p:nvSpPr>
          <p:cNvPr id="16" name="スライド番号プレースホルダー 15">
            <a:extLst>
              <a:ext uri="{FF2B5EF4-FFF2-40B4-BE49-F238E27FC236}">
                <a16:creationId xmlns:a16="http://schemas.microsoft.com/office/drawing/2014/main" id="{74BC3AF1-C633-F9BB-A28C-94D23AA9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111BC-1026-41FD-925F-FB719F33286F}" type="slidenum">
              <a:rPr kumimoji="1" lang="ja-JP" altLang="en-US" smtClean="0"/>
              <a:t>1</a:t>
            </a:fld>
            <a:endParaRPr kumimoji="1" lang="ja-JP" altLang="en-US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0E845284-35A0-8321-85B5-FCDB526317AA}"/>
              </a:ext>
            </a:extLst>
          </p:cNvPr>
          <p:cNvGrpSpPr/>
          <p:nvPr/>
        </p:nvGrpSpPr>
        <p:grpSpPr>
          <a:xfrm>
            <a:off x="311426" y="1617301"/>
            <a:ext cx="11569148" cy="3623397"/>
            <a:chOff x="311426" y="543894"/>
            <a:chExt cx="11569148" cy="3623397"/>
          </a:xfrm>
        </p:grpSpPr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A553B8EC-3F5B-AEE7-80FE-31E613E9E1A4}"/>
                </a:ext>
              </a:extLst>
            </p:cNvPr>
            <p:cNvSpPr txBox="1"/>
            <p:nvPr/>
          </p:nvSpPr>
          <p:spPr>
            <a:xfrm>
              <a:off x="2551042" y="3368197"/>
              <a:ext cx="708991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b="1" dirty="0"/>
                <a:t>Author :</a:t>
              </a:r>
              <a:r>
                <a:rPr lang="en-US" altLang="ja-JP" dirty="0"/>
                <a:t>Raj </a:t>
              </a:r>
              <a:r>
                <a:rPr lang="en-US" altLang="ja-JP" dirty="0" err="1"/>
                <a:t>kumar</a:t>
              </a:r>
              <a:r>
                <a:rPr lang="en-US" altLang="ja-JP" dirty="0"/>
                <a:t> Mahto, Pankaj Mishra, Aftab Alam  </a:t>
              </a:r>
            </a:p>
            <a:p>
              <a:pPr algn="ctr"/>
              <a:endParaRPr lang="ja-JP" altLang="en-US" b="1" dirty="0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FF3EEAC6-1A43-0460-044C-0CA32106812D}"/>
                </a:ext>
              </a:extLst>
            </p:cNvPr>
            <p:cNvSpPr txBox="1"/>
            <p:nvPr/>
          </p:nvSpPr>
          <p:spPr>
            <a:xfrm>
              <a:off x="4946372" y="3797959"/>
              <a:ext cx="229925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dirty="0"/>
                <a:t>(ISTEMS 2024)</a:t>
              </a:r>
              <a:endParaRPr lang="ja-JP" altLang="en-US" dirty="0"/>
            </a:p>
          </p:txBody>
        </p:sp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ABD696C0-9CE7-E27E-4CC4-3AC3E7F463B8}"/>
                </a:ext>
              </a:extLst>
            </p:cNvPr>
            <p:cNvGrpSpPr/>
            <p:nvPr/>
          </p:nvGrpSpPr>
          <p:grpSpPr>
            <a:xfrm>
              <a:off x="311426" y="543894"/>
              <a:ext cx="11569148" cy="2515187"/>
              <a:chOff x="311426" y="1062472"/>
              <a:chExt cx="11569148" cy="2515187"/>
            </a:xfrm>
          </p:grpSpPr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2B58F8ED-2FF6-036A-B450-528817F26E11}"/>
                  </a:ext>
                </a:extLst>
              </p:cNvPr>
              <p:cNvSpPr txBox="1"/>
              <p:nvPr/>
            </p:nvSpPr>
            <p:spPr>
              <a:xfrm>
                <a:off x="311426" y="1812663"/>
                <a:ext cx="11569148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ja-JP" sz="3600" b="0" i="0" dirty="0">
                    <a:effectLst/>
                    <a:latin typeface="Arial" panose="020B0604020202020204" pitchFamily="34" charset="0"/>
                  </a:rPr>
                  <a:t>“ Design of Controller for three-phase</a:t>
                </a:r>
                <a:r>
                  <a:rPr lang="en-US" altLang="ja-JP" sz="3600" dirty="0">
                    <a:latin typeface="Arial" panose="020B0604020202020204" pitchFamily="34" charset="0"/>
                  </a:rPr>
                  <a:t> </a:t>
                </a:r>
                <a:r>
                  <a:rPr lang="en-US" altLang="ja-JP" sz="3600" b="0" i="0" dirty="0">
                    <a:effectLst/>
                    <a:latin typeface="Arial" panose="020B0604020202020204" pitchFamily="34" charset="0"/>
                  </a:rPr>
                  <a:t>Grid-Connected Inverter Using Reinforcement Learning ”</a:t>
                </a:r>
                <a:endParaRPr lang="ja-JP" altLang="en-US" sz="3600" dirty="0"/>
              </a:p>
            </p:txBody>
          </p:sp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02DED90C-70D8-AB50-DD24-ADE46F100560}"/>
                  </a:ext>
                </a:extLst>
              </p:cNvPr>
              <p:cNvSpPr txBox="1"/>
              <p:nvPr/>
            </p:nvSpPr>
            <p:spPr>
              <a:xfrm>
                <a:off x="5102087" y="1062472"/>
                <a:ext cx="198782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ja-JP" sz="3600" b="0" i="0" dirty="0">
                    <a:effectLst/>
                    <a:latin typeface="Arial" panose="020B0604020202020204" pitchFamily="34" charset="0"/>
                  </a:rPr>
                  <a:t>Review :</a:t>
                </a:r>
              </a:p>
            </p:txBody>
          </p:sp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73889AA6-59FC-A7ED-8E42-627E122342D7}"/>
                  </a:ext>
                </a:extLst>
              </p:cNvPr>
              <p:cNvSpPr txBox="1"/>
              <p:nvPr/>
            </p:nvSpPr>
            <p:spPr>
              <a:xfrm>
                <a:off x="2020956" y="3177549"/>
                <a:ext cx="815008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ja-JP" altLang="en-US" sz="2000" dirty="0"/>
                  <a:t>（強化学習を用いた三相系統連系インバータ用制御器の設計）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0176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D0C6F6-6526-DE13-4154-7A945DCFC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1. </a:t>
            </a:r>
            <a:r>
              <a:rPr kumimoji="1" lang="ja-JP" altLang="en-US" dirty="0"/>
              <a:t>研究概要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A3580BB-C6AC-F18F-D49E-2630BEA1F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n"/>
            </a:pPr>
            <a:r>
              <a:rPr kumimoji="1" lang="ja-JP" altLang="en-US" b="1" dirty="0"/>
              <a:t>研究内容</a:t>
            </a:r>
            <a:endParaRPr kumimoji="1" lang="en-US" altLang="ja-JP" b="1" dirty="0"/>
          </a:p>
          <a:p>
            <a:pPr marL="0" indent="0">
              <a:buNone/>
            </a:pPr>
            <a:r>
              <a:rPr kumimoji="1" lang="ja-JP" altLang="en-US" dirty="0"/>
              <a:t>電圧形インバータ</a:t>
            </a:r>
            <a:r>
              <a:rPr kumimoji="1" lang="en-US" altLang="ja-JP" dirty="0"/>
              <a:t>(VSI)</a:t>
            </a:r>
            <a:r>
              <a:rPr lang="ja-JP" altLang="en-US" dirty="0"/>
              <a:t>向けの、より高性能な新しい制御器設計の提案</a:t>
            </a:r>
            <a:endParaRPr lang="en-US" altLang="ja-JP" dirty="0"/>
          </a:p>
          <a:p>
            <a:pPr marL="0" indent="0">
              <a:buNone/>
            </a:pPr>
            <a:endParaRPr kumimoji="1" lang="en-US" altLang="ja-JP" sz="900" dirty="0">
              <a:solidFill>
                <a:srgbClr val="C00000"/>
              </a:solidFill>
            </a:endParaRPr>
          </a:p>
          <a:p>
            <a:pPr>
              <a:buFont typeface="Wingdings" panose="05000000000000000000" pitchFamily="2" charset="2"/>
              <a:buChar char="n"/>
            </a:pPr>
            <a:r>
              <a:rPr lang="ja-JP" altLang="en-US" b="1" dirty="0"/>
              <a:t>従来制御の課題</a:t>
            </a:r>
            <a:endParaRPr lang="en-US" altLang="ja-JP" b="1" dirty="0"/>
          </a:p>
          <a:p>
            <a:pPr marL="0" indent="0">
              <a:buNone/>
            </a:pPr>
            <a:r>
              <a:rPr lang="ja-JP" altLang="en-US" dirty="0"/>
              <a:t>従来の</a:t>
            </a:r>
            <a:r>
              <a:rPr lang="en-US" altLang="ja-JP" dirty="0"/>
              <a:t>PI</a:t>
            </a:r>
            <a:r>
              <a:rPr lang="ja-JP" altLang="en-US" dirty="0"/>
              <a:t>制御、</a:t>
            </a:r>
            <a:r>
              <a:rPr lang="en-US" altLang="ja-JP" dirty="0"/>
              <a:t>PR</a:t>
            </a:r>
            <a:r>
              <a:rPr lang="ja-JP" altLang="en-US" dirty="0"/>
              <a:t>制御、</a:t>
            </a:r>
            <a:r>
              <a:rPr lang="en-US" altLang="ja-JP" dirty="0"/>
              <a:t>DB</a:t>
            </a:r>
            <a:r>
              <a:rPr lang="ja-JP" altLang="en-US" dirty="0"/>
              <a:t>制御、</a:t>
            </a:r>
            <a:r>
              <a:rPr lang="en-US" altLang="ja-JP" dirty="0"/>
              <a:t>MPC</a:t>
            </a:r>
            <a:r>
              <a:rPr lang="ja-JP" altLang="en-US" dirty="0"/>
              <a:t>などには構造的な限界があった</a:t>
            </a:r>
            <a:endParaRPr lang="en-US" altLang="ja-JP" dirty="0"/>
          </a:p>
          <a:p>
            <a:r>
              <a:rPr lang="ja-JP" alt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モデルへの強依存 → 環境変動や経年劣化などでシステム条件が変わると、固定された制御ゲインでは対応しきれずに性能低下</a:t>
            </a:r>
            <a:endParaRPr lang="en-US" altLang="ja-JP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r>
              <a:rPr lang="ja-JP" alt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動的性能と定常性能のトレードオフ → 応答を早くしようとすると、オーバーシュートが発生</a:t>
            </a:r>
            <a:endParaRPr lang="en-US" altLang="ja-JP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r>
              <a:rPr lang="ja-JP" alt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調整の複雑さ → 上記トレードオフの中で、最適な制御器ゲインの調整作業が複雑かつ困難</a:t>
            </a:r>
            <a:endParaRPr lang="en-US" altLang="ja-JP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endParaRPr lang="en-US" altLang="ja-JP" sz="10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n"/>
            </a:pPr>
            <a:r>
              <a:rPr lang="ja-JP" altLang="en-US" b="1" dirty="0"/>
              <a:t>論文の解決アプローチとその結果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dirty="0"/>
              <a:t>RL-DDPG</a:t>
            </a:r>
            <a:r>
              <a:rPr lang="ja-JP" altLang="en-US" dirty="0"/>
              <a:t>による強化学習制御を利用し、従来制御より良い制御をすることができた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rgbClr val="C00000"/>
                </a:solidFill>
              </a:rPr>
              <a:t>全高調波歪</a:t>
            </a:r>
            <a:r>
              <a:rPr lang="en-US" altLang="ja-JP" dirty="0">
                <a:solidFill>
                  <a:srgbClr val="C00000"/>
                </a:solidFill>
              </a:rPr>
              <a:t>(THD)</a:t>
            </a:r>
            <a:r>
              <a:rPr lang="ja-JP" altLang="en-US" dirty="0">
                <a:solidFill>
                  <a:srgbClr val="C00000"/>
                </a:solidFill>
              </a:rPr>
              <a:t>を約</a:t>
            </a:r>
            <a:r>
              <a:rPr lang="en-US" altLang="ja-JP" dirty="0">
                <a:solidFill>
                  <a:srgbClr val="C00000"/>
                </a:solidFill>
              </a:rPr>
              <a:t>47%</a:t>
            </a:r>
            <a:r>
              <a:rPr lang="ja-JP" altLang="en-US" dirty="0">
                <a:solidFill>
                  <a:srgbClr val="C00000"/>
                </a:solidFill>
              </a:rPr>
              <a:t>低減</a:t>
            </a:r>
            <a:endParaRPr lang="en-US" altLang="ja-JP" dirty="0">
              <a:solidFill>
                <a:srgbClr val="C00000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rgbClr val="C00000"/>
                </a:solidFill>
              </a:rPr>
              <a:t>オーバーシュートを</a:t>
            </a:r>
            <a:r>
              <a:rPr lang="en-US" altLang="ja-JP" dirty="0">
                <a:solidFill>
                  <a:srgbClr val="C00000"/>
                </a:solidFill>
              </a:rPr>
              <a:t>8%</a:t>
            </a:r>
            <a:r>
              <a:rPr lang="ja-JP" altLang="en-US" dirty="0">
                <a:solidFill>
                  <a:srgbClr val="C00000"/>
                </a:solidFill>
              </a:rPr>
              <a:t>に抑える</a:t>
            </a:r>
            <a:endParaRPr lang="en-US" altLang="ja-JP" dirty="0">
              <a:solidFill>
                <a:srgbClr val="C00000"/>
              </a:solidFill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F55D678-B005-B5DC-72A7-19E694865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111BC-1026-41FD-925F-FB719F33286F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BE0C9580-FF63-27D0-48BF-C433FBD0B82E}"/>
              </a:ext>
            </a:extLst>
          </p:cNvPr>
          <p:cNvSpPr txBox="1">
            <a:spLocks/>
          </p:cNvSpPr>
          <p:nvPr/>
        </p:nvSpPr>
        <p:spPr>
          <a:xfrm>
            <a:off x="5025888" y="5528789"/>
            <a:ext cx="4018722" cy="821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rgbClr val="C00000"/>
                </a:solidFill>
              </a:rPr>
              <a:t>定常誤差・リップルを最小化</a:t>
            </a:r>
            <a:endParaRPr lang="en-US" altLang="ja-JP" dirty="0">
              <a:solidFill>
                <a:srgbClr val="C00000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rgbClr val="C00000"/>
                </a:solidFill>
              </a:rPr>
              <a:t>過渡期間の目標値の変動を低減　</a:t>
            </a:r>
            <a:endParaRPr lang="en-US" altLang="ja-JP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7420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8AE773-7C62-AFD7-0499-1DBC61084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2. </a:t>
            </a:r>
            <a:r>
              <a:rPr kumimoji="1" lang="ja-JP" altLang="en-US" dirty="0"/>
              <a:t>提案手法内容　①強化学習前の下処理</a:t>
            </a:r>
            <a:r>
              <a:rPr kumimoji="1" lang="en-US" altLang="ja-JP" dirty="0"/>
              <a:t>(d-q</a:t>
            </a:r>
            <a:r>
              <a:rPr kumimoji="1" lang="ja-JP" altLang="en-US" dirty="0"/>
              <a:t>変換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BB4394-415B-B35D-F4CC-09BBD3A9C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640" y="987287"/>
            <a:ext cx="5854658" cy="5362801"/>
          </a:xfrm>
        </p:spPr>
        <p:txBody>
          <a:bodyPr/>
          <a:lstStyle/>
          <a:p>
            <a:pPr marL="0" indent="0">
              <a:buNone/>
            </a:pPr>
            <a:r>
              <a:rPr lang="ja-JP" altLang="en-US" b="1" dirty="0"/>
              <a:t>                 ３相座標系</a:t>
            </a:r>
            <a:r>
              <a:rPr lang="en-US" altLang="ja-JP" b="1" dirty="0"/>
              <a:t>(</a:t>
            </a:r>
            <a:r>
              <a:rPr lang="ja-JP" altLang="en-US" b="1" dirty="0"/>
              <a:t>固定軸</a:t>
            </a:r>
            <a:r>
              <a:rPr lang="en-US" altLang="ja-JP" b="1" dirty="0"/>
              <a:t>)</a:t>
            </a:r>
            <a:br>
              <a:rPr lang="en-US" altLang="ja-JP" dirty="0"/>
            </a:br>
            <a:br>
              <a:rPr lang="en-US" altLang="ja-JP" dirty="0"/>
            </a:br>
            <a:br>
              <a:rPr lang="en-US" altLang="ja-JP" dirty="0"/>
            </a:br>
            <a:br>
              <a:rPr lang="en-US" altLang="ja-JP" dirty="0"/>
            </a:br>
            <a:br>
              <a:rPr lang="en-US" altLang="ja-JP" dirty="0"/>
            </a:br>
            <a:br>
              <a:rPr lang="en-US" altLang="ja-JP" dirty="0"/>
            </a:br>
            <a:br>
              <a:rPr lang="en-US" altLang="ja-JP" dirty="0"/>
            </a:b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　　　　　　</a:t>
            </a:r>
            <a:r>
              <a:rPr lang="en-US" altLang="ja-JP" b="1" dirty="0"/>
              <a:t>α-β</a:t>
            </a:r>
            <a:r>
              <a:rPr lang="ja-JP" altLang="en-US" b="1" dirty="0"/>
              <a:t>座標系</a:t>
            </a:r>
            <a:r>
              <a:rPr lang="en-US" altLang="ja-JP" b="1" dirty="0"/>
              <a:t>(</a:t>
            </a:r>
            <a:r>
              <a:rPr lang="ja-JP" altLang="en-US" b="1" dirty="0"/>
              <a:t>固定軸</a:t>
            </a:r>
            <a:r>
              <a:rPr lang="en-US" altLang="ja-JP" b="1" dirty="0"/>
              <a:t>)</a:t>
            </a:r>
            <a:br>
              <a:rPr lang="en-US" altLang="ja-JP" dirty="0"/>
            </a:br>
            <a:endParaRPr lang="en-US" altLang="ja-JP" dirty="0"/>
          </a:p>
          <a:p>
            <a:pPr marL="0" indent="0">
              <a:buNone/>
            </a:pPr>
            <a:endParaRPr lang="en-US" altLang="ja-JP" b="1" dirty="0"/>
          </a:p>
          <a:p>
            <a:pPr marL="0" indent="0">
              <a:buNone/>
            </a:pPr>
            <a:endParaRPr lang="en-US" altLang="ja-JP" b="1" dirty="0"/>
          </a:p>
          <a:p>
            <a:pPr marL="0" indent="0">
              <a:buNone/>
            </a:pPr>
            <a:r>
              <a:rPr lang="ja-JP" altLang="en-US" b="1" dirty="0"/>
              <a:t>　　　　　　</a:t>
            </a:r>
            <a:r>
              <a:rPr lang="en-US" altLang="ja-JP" b="1" dirty="0"/>
              <a:t>d-q</a:t>
            </a:r>
            <a:r>
              <a:rPr lang="ja-JP" altLang="en-US" b="1" dirty="0"/>
              <a:t>座標系</a:t>
            </a:r>
            <a:r>
              <a:rPr lang="en-US" altLang="ja-JP" b="1" dirty="0"/>
              <a:t>(</a:t>
            </a:r>
            <a:r>
              <a:rPr lang="ja-JP" altLang="en-US" b="1" dirty="0"/>
              <a:t>回転軸</a:t>
            </a:r>
            <a:r>
              <a:rPr lang="en-US" altLang="ja-JP" b="1" dirty="0"/>
              <a:t>)</a:t>
            </a:r>
            <a:br>
              <a:rPr lang="en-US" altLang="ja-JP" dirty="0"/>
            </a:b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5FD83EC-AAF6-3AA7-0B20-F25CCECB0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111BC-1026-41FD-925F-FB719F33286F}" type="slidenum">
              <a:rPr lang="ja-JP" altLang="en-US" smtClean="0"/>
              <a:pPr/>
              <a:t>3</a:t>
            </a:fld>
            <a:endParaRPr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FD37F27-14A0-514E-DB8F-4F7A18117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4509" y="2383738"/>
            <a:ext cx="5241458" cy="4217804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163D840-E2DA-9567-C792-43667108783A}"/>
              </a:ext>
            </a:extLst>
          </p:cNvPr>
          <p:cNvSpPr/>
          <p:nvPr/>
        </p:nvSpPr>
        <p:spPr>
          <a:xfrm>
            <a:off x="9616104" y="4032887"/>
            <a:ext cx="2119863" cy="7434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1" name="図 150">
            <a:extLst>
              <a:ext uri="{FF2B5EF4-FFF2-40B4-BE49-F238E27FC236}">
                <a16:creationId xmlns:a16="http://schemas.microsoft.com/office/drawing/2014/main" id="{EC775F7F-F03D-BA6E-6E4F-69A573503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39" y="1396000"/>
            <a:ext cx="5755177" cy="1246294"/>
          </a:xfrm>
          <a:prstGeom prst="rect">
            <a:avLst/>
          </a:prstGeom>
        </p:spPr>
      </p:pic>
      <p:pic>
        <p:nvPicPr>
          <p:cNvPr id="153" name="図 152">
            <a:extLst>
              <a:ext uri="{FF2B5EF4-FFF2-40B4-BE49-F238E27FC236}">
                <a16:creationId xmlns:a16="http://schemas.microsoft.com/office/drawing/2014/main" id="{A376B365-42F4-8326-9DC5-5C16D834E4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416" y="3675915"/>
            <a:ext cx="5196733" cy="577414"/>
          </a:xfrm>
          <a:prstGeom prst="rect">
            <a:avLst/>
          </a:prstGeom>
        </p:spPr>
      </p:pic>
      <p:sp>
        <p:nvSpPr>
          <p:cNvPr id="154" name="二等辺三角形 153">
            <a:extLst>
              <a:ext uri="{FF2B5EF4-FFF2-40B4-BE49-F238E27FC236}">
                <a16:creationId xmlns:a16="http://schemas.microsoft.com/office/drawing/2014/main" id="{503A83AE-173B-14BD-3683-466C0B61AB9B}"/>
              </a:ext>
            </a:extLst>
          </p:cNvPr>
          <p:cNvSpPr/>
          <p:nvPr/>
        </p:nvSpPr>
        <p:spPr>
          <a:xfrm rot="10800000">
            <a:off x="2739709" y="2900706"/>
            <a:ext cx="472808" cy="218661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7" name="図 156">
            <a:extLst>
              <a:ext uri="{FF2B5EF4-FFF2-40B4-BE49-F238E27FC236}">
                <a16:creationId xmlns:a16="http://schemas.microsoft.com/office/drawing/2014/main" id="{8FB61E5F-81A0-82CB-C385-92F996EBAE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757" y="5215644"/>
            <a:ext cx="5129392" cy="492712"/>
          </a:xfrm>
          <a:prstGeom prst="rect">
            <a:avLst/>
          </a:prstGeom>
        </p:spPr>
      </p:pic>
      <p:pic>
        <p:nvPicPr>
          <p:cNvPr id="158" name="図 157">
            <a:extLst>
              <a:ext uri="{FF2B5EF4-FFF2-40B4-BE49-F238E27FC236}">
                <a16:creationId xmlns:a16="http://schemas.microsoft.com/office/drawing/2014/main" id="{3E9D912E-6278-7407-C7EE-9C43A2CE19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864" y="5722619"/>
            <a:ext cx="5034033" cy="431488"/>
          </a:xfrm>
          <a:prstGeom prst="rect">
            <a:avLst/>
          </a:prstGeom>
        </p:spPr>
      </p:pic>
      <p:sp>
        <p:nvSpPr>
          <p:cNvPr id="159" name="二等辺三角形 158">
            <a:extLst>
              <a:ext uri="{FF2B5EF4-FFF2-40B4-BE49-F238E27FC236}">
                <a16:creationId xmlns:a16="http://schemas.microsoft.com/office/drawing/2014/main" id="{5DAB407A-32FA-91AF-16A5-3E33684EF5DF}"/>
              </a:ext>
            </a:extLst>
          </p:cNvPr>
          <p:cNvSpPr/>
          <p:nvPr/>
        </p:nvSpPr>
        <p:spPr>
          <a:xfrm rot="10800000">
            <a:off x="2735897" y="4404609"/>
            <a:ext cx="472808" cy="218661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0" name="コンテンツ プレースホルダー 2">
            <a:extLst>
              <a:ext uri="{FF2B5EF4-FFF2-40B4-BE49-F238E27FC236}">
                <a16:creationId xmlns:a16="http://schemas.microsoft.com/office/drawing/2014/main" id="{F8A82D8B-C225-060E-D8AB-0178C51F3B36}"/>
              </a:ext>
            </a:extLst>
          </p:cNvPr>
          <p:cNvSpPr txBox="1">
            <a:spLocks/>
          </p:cNvSpPr>
          <p:nvPr/>
        </p:nvSpPr>
        <p:spPr>
          <a:xfrm>
            <a:off x="6494508" y="986639"/>
            <a:ext cx="5241459" cy="12429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n"/>
            </a:pPr>
            <a:r>
              <a:rPr lang="en-US" altLang="ja-JP" b="1" dirty="0"/>
              <a:t>d-q</a:t>
            </a:r>
            <a:r>
              <a:rPr lang="ja-JP" altLang="en-US" b="1" dirty="0"/>
              <a:t>変換の目的</a:t>
            </a:r>
            <a:endParaRPr lang="en-US" altLang="ja-JP" b="1" dirty="0"/>
          </a:p>
          <a:p>
            <a:pPr marL="0" indent="0">
              <a:buNone/>
            </a:pPr>
            <a:r>
              <a:rPr lang="ja-JP" altLang="en-US" dirty="0"/>
              <a:t>強化学習に使うパラメータ数を削減し、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制御計算をより簡素にする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772037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A10C5F-E141-6B18-BFC7-CBB594544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2. </a:t>
            </a:r>
            <a:r>
              <a:rPr lang="ja-JP" altLang="en-US" dirty="0"/>
              <a:t>提案手法内容　①強化学習前の下処理</a:t>
            </a:r>
            <a:r>
              <a:rPr lang="en-US" altLang="ja-JP" dirty="0"/>
              <a:t>(</a:t>
            </a:r>
            <a:r>
              <a:rPr lang="ja-JP" altLang="en-US" dirty="0"/>
              <a:t>小信号モデル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39AC6C-F9E7-3170-A454-446235AB28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640" y="1114816"/>
            <a:ext cx="5512600" cy="5235272"/>
          </a:xfrm>
        </p:spPr>
        <p:txBody>
          <a:bodyPr/>
          <a:lstStyle/>
          <a:p>
            <a:pPr>
              <a:buFont typeface="Wingdings" panose="05000000000000000000" pitchFamily="2" charset="2"/>
              <a:buChar char="n"/>
            </a:pPr>
            <a:r>
              <a:rPr kumimoji="1" lang="ja-JP" altLang="en-US" b="1" dirty="0"/>
              <a:t>小信号モデルとは</a:t>
            </a:r>
            <a:endParaRPr kumimoji="1" lang="en-US" altLang="ja-JP" b="1" dirty="0"/>
          </a:p>
          <a:p>
            <a:pPr marL="0" indent="0">
              <a:buNone/>
            </a:pPr>
            <a:r>
              <a:rPr kumimoji="1" lang="en-US" altLang="ja-JP" dirty="0"/>
              <a:t>d-q</a:t>
            </a:r>
            <a:r>
              <a:rPr kumimoji="1" lang="ja-JP" altLang="en-US" dirty="0"/>
              <a:t>変換で得られた数式に含まれる非線形要素を除去し、</a:t>
            </a:r>
            <a:r>
              <a:rPr kumimoji="1" lang="ja-JP" altLang="en-US" dirty="0">
                <a:solidFill>
                  <a:srgbClr val="C00000"/>
                </a:solidFill>
              </a:rPr>
              <a:t>線形モデルへ変換</a:t>
            </a:r>
            <a:r>
              <a:rPr kumimoji="1" lang="ja-JP" altLang="en-US" dirty="0"/>
              <a:t>すること</a:t>
            </a:r>
            <a:endParaRPr kumimoji="1"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kumimoji="1" lang="en-US" altLang="ja-JP" dirty="0"/>
              <a:t>(</a:t>
            </a:r>
            <a:r>
              <a:rPr kumimoji="1" lang="ja-JP" altLang="en-US" dirty="0"/>
              <a:t>例</a:t>
            </a:r>
            <a:r>
              <a:rPr kumimoji="1" lang="en-US" altLang="ja-JP" dirty="0"/>
              <a:t>)</a:t>
            </a:r>
            <a:r>
              <a:rPr lang="ja-JP" altLang="en-US" dirty="0"/>
              <a:t>一定値と微変動値に分けた変数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　　　　　　　　と　　　　　　　　　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を掛け合わせて線形項を抽出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F0C024-858E-0BCB-3F18-62C3DD85C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111BC-1026-41FD-925F-FB719F33286F}" type="slidenum">
              <a:rPr lang="ja-JP" altLang="en-US" smtClean="0"/>
              <a:pPr/>
              <a:t>4</a:t>
            </a:fld>
            <a:endParaRPr lang="ja-JP" altLang="en-US" dirty="0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351216A5-17B4-BE97-0521-03D7BB842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15" y="2980871"/>
            <a:ext cx="1688973" cy="364580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782CBA99-A83B-DCC1-CC87-CB746A04D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758" y="2980871"/>
            <a:ext cx="2048942" cy="364580"/>
          </a:xfrm>
          <a:prstGeom prst="rect">
            <a:avLst/>
          </a:prstGeom>
        </p:spPr>
      </p:pic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3F5C376E-EA01-756C-6D54-4072EAD0959D}"/>
              </a:ext>
            </a:extLst>
          </p:cNvPr>
          <p:cNvGrpSpPr/>
          <p:nvPr/>
        </p:nvGrpSpPr>
        <p:grpSpPr>
          <a:xfrm>
            <a:off x="360335" y="3907366"/>
            <a:ext cx="5129392" cy="1777995"/>
            <a:chOff x="318092" y="2392347"/>
            <a:chExt cx="5129392" cy="1777995"/>
          </a:xfrm>
        </p:grpSpPr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0EB512C6-9178-70E3-D348-817B4FB1D0EC}"/>
                </a:ext>
              </a:extLst>
            </p:cNvPr>
            <p:cNvGrpSpPr/>
            <p:nvPr/>
          </p:nvGrpSpPr>
          <p:grpSpPr>
            <a:xfrm>
              <a:off x="318092" y="2392347"/>
              <a:ext cx="5129392" cy="492712"/>
              <a:chOff x="510121" y="2273661"/>
              <a:chExt cx="5129392" cy="492712"/>
            </a:xfrm>
          </p:grpSpPr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BD00C838-EDAA-EF47-2F96-42A0E4BBC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0121" y="2273661"/>
                <a:ext cx="5129392" cy="492712"/>
              </a:xfrm>
              <a:prstGeom prst="rect">
                <a:avLst/>
              </a:prstGeom>
            </p:spPr>
          </p:pic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868D0AAD-FF66-A3D8-F63B-D9E58164A984}"/>
                  </a:ext>
                </a:extLst>
              </p:cNvPr>
              <p:cNvSpPr/>
              <p:nvPr/>
            </p:nvSpPr>
            <p:spPr>
              <a:xfrm>
                <a:off x="1424609" y="2305878"/>
                <a:ext cx="695739" cy="38105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1F2451C3-3B84-21B0-05C3-C93472FA7181}"/>
                </a:ext>
              </a:extLst>
            </p:cNvPr>
            <p:cNvCxnSpPr>
              <a:stCxn id="8" idx="2"/>
            </p:cNvCxnSpPr>
            <p:nvPr/>
          </p:nvCxnSpPr>
          <p:spPr>
            <a:xfrm flipH="1">
              <a:off x="1580449" y="2805617"/>
              <a:ext cx="1" cy="373845"/>
            </a:xfrm>
            <a:prstGeom prst="straightConnector1">
              <a:avLst/>
            </a:prstGeom>
            <a:ln>
              <a:solidFill>
                <a:srgbClr val="C00000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E9479AD8-1A0B-6A83-EFDD-83ACF4920F8B}"/>
                </a:ext>
              </a:extLst>
            </p:cNvPr>
            <p:cNvGrpSpPr/>
            <p:nvPr/>
          </p:nvGrpSpPr>
          <p:grpSpPr>
            <a:xfrm>
              <a:off x="318093" y="3072384"/>
              <a:ext cx="4794648" cy="1097958"/>
              <a:chOff x="318093" y="3072384"/>
              <a:chExt cx="4794648" cy="1097958"/>
            </a:xfrm>
          </p:grpSpPr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CA698F0F-138D-5FD4-17E6-413E8CDE13E9}"/>
                  </a:ext>
                </a:extLst>
              </p:cNvPr>
              <p:cNvGrpSpPr/>
              <p:nvPr/>
            </p:nvGrpSpPr>
            <p:grpSpPr>
              <a:xfrm>
                <a:off x="318093" y="3194836"/>
                <a:ext cx="4637956" cy="426189"/>
                <a:chOff x="656426" y="3343409"/>
                <a:chExt cx="5525271" cy="507726"/>
              </a:xfrm>
            </p:grpSpPr>
            <p:pic>
              <p:nvPicPr>
                <p:cNvPr id="6" name="図 5">
                  <a:extLst>
                    <a:ext uri="{FF2B5EF4-FFF2-40B4-BE49-F238E27FC236}">
                      <a16:creationId xmlns:a16="http://schemas.microsoft.com/office/drawing/2014/main" id="{6F7266EB-CA80-B280-F074-F8F18DAB37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56426" y="3412302"/>
                  <a:ext cx="5525271" cy="381053"/>
                </a:xfrm>
                <a:prstGeom prst="rect">
                  <a:avLst/>
                </a:prstGeom>
              </p:spPr>
            </p:pic>
            <p:sp>
              <p:nvSpPr>
                <p:cNvPr id="11" name="正方形/長方形 10">
                  <a:extLst>
                    <a:ext uri="{FF2B5EF4-FFF2-40B4-BE49-F238E27FC236}">
                      <a16:creationId xmlns:a16="http://schemas.microsoft.com/office/drawing/2014/main" id="{D2B4BF77-5ED8-B1A6-173D-6F38CB01DEA8}"/>
                    </a:ext>
                  </a:extLst>
                </p:cNvPr>
                <p:cNvSpPr/>
                <p:nvPr/>
              </p:nvSpPr>
              <p:spPr>
                <a:xfrm>
                  <a:off x="656426" y="3343409"/>
                  <a:ext cx="5525271" cy="507726"/>
                </a:xfrm>
                <a:prstGeom prst="rect">
                  <a:avLst/>
                </a:prstGeom>
                <a:noFill/>
                <a:ln>
                  <a:solidFill>
                    <a:srgbClr val="C00000"/>
                  </a:solidFill>
                  <a:prstDash val="sys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29" name="正方形/長方形 28">
                <a:extLst>
                  <a:ext uri="{FF2B5EF4-FFF2-40B4-BE49-F238E27FC236}">
                    <a16:creationId xmlns:a16="http://schemas.microsoft.com/office/drawing/2014/main" id="{642A45BB-14E3-9B6A-940F-9CACA9002283}"/>
                  </a:ext>
                </a:extLst>
              </p:cNvPr>
              <p:cNvSpPr/>
              <p:nvPr/>
            </p:nvSpPr>
            <p:spPr>
              <a:xfrm>
                <a:off x="3023616" y="3072384"/>
                <a:ext cx="1261871" cy="707136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コンテンツ プレースホルダー 2">
                <a:extLst>
                  <a:ext uri="{FF2B5EF4-FFF2-40B4-BE49-F238E27FC236}">
                    <a16:creationId xmlns:a16="http://schemas.microsoft.com/office/drawing/2014/main" id="{351330B5-66F9-4481-9397-EDD03474444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04680" y="3815429"/>
                <a:ext cx="1007654" cy="35491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ja-JP" altLang="en-US" dirty="0">
                    <a:solidFill>
                      <a:srgbClr val="0070C0"/>
                    </a:solidFill>
                  </a:rPr>
                  <a:t>線形項</a:t>
                </a:r>
                <a:endParaRPr lang="en-US" altLang="ja-JP" dirty="0">
                  <a:solidFill>
                    <a:srgbClr val="0070C0"/>
                  </a:solidFill>
                </a:endParaRPr>
              </a:p>
            </p:txBody>
          </p:sp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652E7E9C-9929-E2D9-E515-191492EF5856}"/>
                  </a:ext>
                </a:extLst>
              </p:cNvPr>
              <p:cNvCxnSpPr/>
              <p:nvPr/>
            </p:nvCxnSpPr>
            <p:spPr>
              <a:xfrm flipH="1">
                <a:off x="2407920" y="3194836"/>
                <a:ext cx="396240" cy="37768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線コネクタ 36">
                <a:extLst>
                  <a:ext uri="{FF2B5EF4-FFF2-40B4-BE49-F238E27FC236}">
                    <a16:creationId xmlns:a16="http://schemas.microsoft.com/office/drawing/2014/main" id="{E2F3A3B0-D668-4F2D-0966-04EE35CE4287}"/>
                  </a:ext>
                </a:extLst>
              </p:cNvPr>
              <p:cNvCxnSpPr/>
              <p:nvPr/>
            </p:nvCxnSpPr>
            <p:spPr>
              <a:xfrm flipH="1">
                <a:off x="4471417" y="3219086"/>
                <a:ext cx="396240" cy="37768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コンテンツ プレースホルダー 2">
                <a:extLst>
                  <a:ext uri="{FF2B5EF4-FFF2-40B4-BE49-F238E27FC236}">
                    <a16:creationId xmlns:a16="http://schemas.microsoft.com/office/drawing/2014/main" id="{855E8B1A-8FBF-A860-E7F7-3F9025989E8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96362" y="3678854"/>
                <a:ext cx="807726" cy="30183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ja-JP" altLang="en-US" sz="1600" dirty="0">
                    <a:solidFill>
                      <a:srgbClr val="0070C0"/>
                    </a:solidFill>
                  </a:rPr>
                  <a:t>定常値</a:t>
                </a:r>
                <a:endParaRPr lang="en-US" altLang="ja-JP" sz="1600" dirty="0">
                  <a:solidFill>
                    <a:srgbClr val="0070C0"/>
                  </a:solidFill>
                </a:endParaRPr>
              </a:p>
            </p:txBody>
          </p:sp>
          <p:sp>
            <p:nvSpPr>
              <p:cNvPr id="39" name="コンテンツ プレースホルダー 2">
                <a:extLst>
                  <a:ext uri="{FF2B5EF4-FFF2-40B4-BE49-F238E27FC236}">
                    <a16:creationId xmlns:a16="http://schemas.microsoft.com/office/drawing/2014/main" id="{9B88CCAA-94C4-BE57-52D7-CCFF5F53320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305015" y="3660126"/>
                <a:ext cx="807726" cy="30183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ja-JP" altLang="en-US" sz="1600" dirty="0">
                    <a:solidFill>
                      <a:srgbClr val="0070C0"/>
                    </a:solidFill>
                  </a:rPr>
                  <a:t>微小項</a:t>
                </a:r>
                <a:endParaRPr lang="en-US" altLang="ja-JP" sz="1600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44" name="コンテンツ プレースホルダー 2">
            <a:extLst>
              <a:ext uri="{FF2B5EF4-FFF2-40B4-BE49-F238E27FC236}">
                <a16:creationId xmlns:a16="http://schemas.microsoft.com/office/drawing/2014/main" id="{872D55EC-4F10-7BF4-1B93-3FCA14B9E962}"/>
              </a:ext>
            </a:extLst>
          </p:cNvPr>
          <p:cNvSpPr txBox="1">
            <a:spLocks/>
          </p:cNvSpPr>
          <p:nvPr/>
        </p:nvSpPr>
        <p:spPr>
          <a:xfrm>
            <a:off x="6319064" y="1114816"/>
            <a:ext cx="5512600" cy="52352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n"/>
            </a:pPr>
            <a:r>
              <a:rPr lang="ja-JP" altLang="en-US" b="1" dirty="0"/>
              <a:t>小信号モデルにより得られる状態方程式</a:t>
            </a:r>
          </a:p>
        </p:txBody>
      </p:sp>
      <p:pic>
        <p:nvPicPr>
          <p:cNvPr id="46" name="図 45">
            <a:extLst>
              <a:ext uri="{FF2B5EF4-FFF2-40B4-BE49-F238E27FC236}">
                <a16:creationId xmlns:a16="http://schemas.microsoft.com/office/drawing/2014/main" id="{201F9049-D32C-5729-1119-F45FE55180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9755" y="1439366"/>
            <a:ext cx="4239143" cy="1735640"/>
          </a:xfrm>
          <a:prstGeom prst="rect">
            <a:avLst/>
          </a:prstGeom>
        </p:spPr>
      </p:pic>
      <p:grpSp>
        <p:nvGrpSpPr>
          <p:cNvPr id="82" name="グループ化 81">
            <a:extLst>
              <a:ext uri="{FF2B5EF4-FFF2-40B4-BE49-F238E27FC236}">
                <a16:creationId xmlns:a16="http://schemas.microsoft.com/office/drawing/2014/main" id="{FD4C3D76-D865-9630-502E-016A633920B1}"/>
              </a:ext>
            </a:extLst>
          </p:cNvPr>
          <p:cNvGrpSpPr/>
          <p:nvPr/>
        </p:nvGrpSpPr>
        <p:grpSpPr>
          <a:xfrm>
            <a:off x="4327730" y="1883664"/>
            <a:ext cx="4307857" cy="2703739"/>
            <a:chOff x="4327730" y="1883664"/>
            <a:chExt cx="4307857" cy="2703739"/>
          </a:xfrm>
        </p:grpSpPr>
        <p:cxnSp>
          <p:nvCxnSpPr>
            <p:cNvPr id="59" name="直線コネクタ 58">
              <a:extLst>
                <a:ext uri="{FF2B5EF4-FFF2-40B4-BE49-F238E27FC236}">
                  <a16:creationId xmlns:a16="http://schemas.microsoft.com/office/drawing/2014/main" id="{5F1D0151-0463-1BB3-7940-6EC8CA3C0F04}"/>
                </a:ext>
              </a:extLst>
            </p:cNvPr>
            <p:cNvCxnSpPr/>
            <p:nvPr/>
          </p:nvCxnSpPr>
          <p:spPr>
            <a:xfrm>
              <a:off x="7495635" y="1883664"/>
              <a:ext cx="1139952" cy="0"/>
            </a:xfrm>
            <a:prstGeom prst="line">
              <a:avLst/>
            </a:prstGeom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1" name="グループ化 80">
              <a:extLst>
                <a:ext uri="{FF2B5EF4-FFF2-40B4-BE49-F238E27FC236}">
                  <a16:creationId xmlns:a16="http://schemas.microsoft.com/office/drawing/2014/main" id="{F946361F-F766-17D2-33FA-55FC016AD3D9}"/>
                </a:ext>
              </a:extLst>
            </p:cNvPr>
            <p:cNvGrpSpPr/>
            <p:nvPr/>
          </p:nvGrpSpPr>
          <p:grpSpPr>
            <a:xfrm>
              <a:off x="4327730" y="1883664"/>
              <a:ext cx="3282745" cy="2703739"/>
              <a:chOff x="4327730" y="1883664"/>
              <a:chExt cx="3282745" cy="2703739"/>
            </a:xfrm>
          </p:grpSpPr>
          <p:cxnSp>
            <p:nvCxnSpPr>
              <p:cNvPr id="67" name="直線コネクタ 66">
                <a:extLst>
                  <a:ext uri="{FF2B5EF4-FFF2-40B4-BE49-F238E27FC236}">
                    <a16:creationId xmlns:a16="http://schemas.microsoft.com/office/drawing/2014/main" id="{92F523E8-03C8-A487-321A-024FE1F3C554}"/>
                  </a:ext>
                </a:extLst>
              </p:cNvPr>
              <p:cNvCxnSpPr/>
              <p:nvPr/>
            </p:nvCxnSpPr>
            <p:spPr>
              <a:xfrm flipH="1">
                <a:off x="4327730" y="4400078"/>
                <a:ext cx="384050" cy="187325"/>
              </a:xfrm>
              <a:prstGeom prst="line">
                <a:avLst/>
              </a:prstGeom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コネクタ: カギ線 76">
                <a:extLst>
                  <a:ext uri="{FF2B5EF4-FFF2-40B4-BE49-F238E27FC236}">
                    <a16:creationId xmlns:a16="http://schemas.microsoft.com/office/drawing/2014/main" id="{1BADFFEC-EEAF-33E3-EA97-20B1F28B96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711780" y="2014330"/>
                <a:ext cx="2898695" cy="2386669"/>
              </a:xfrm>
              <a:prstGeom prst="bentConnector3">
                <a:avLst/>
              </a:prstGeom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線矢印コネクタ 79">
                <a:extLst>
                  <a:ext uri="{FF2B5EF4-FFF2-40B4-BE49-F238E27FC236}">
                    <a16:creationId xmlns:a16="http://schemas.microsoft.com/office/drawing/2014/main" id="{7CABEC82-E2CB-0CFD-8D73-B15B1C84A5B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10475" y="1883664"/>
                <a:ext cx="0" cy="130666"/>
              </a:xfrm>
              <a:prstGeom prst="straightConnector1">
                <a:avLst/>
              </a:prstGeom>
              <a:ln>
                <a:solidFill>
                  <a:schemeClr val="tx2">
                    <a:lumMod val="25000"/>
                    <a:lumOff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83" name="二等辺三角形 82">
            <a:extLst>
              <a:ext uri="{FF2B5EF4-FFF2-40B4-BE49-F238E27FC236}">
                <a16:creationId xmlns:a16="http://schemas.microsoft.com/office/drawing/2014/main" id="{6F48F8E7-5390-584B-75CA-DD680FD001A7}"/>
              </a:ext>
            </a:extLst>
          </p:cNvPr>
          <p:cNvSpPr/>
          <p:nvPr/>
        </p:nvSpPr>
        <p:spPr>
          <a:xfrm rot="10800000">
            <a:off x="8838564" y="3311909"/>
            <a:ext cx="472808" cy="218661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4" name="左中かっこ 83">
            <a:extLst>
              <a:ext uri="{FF2B5EF4-FFF2-40B4-BE49-F238E27FC236}">
                <a16:creationId xmlns:a16="http://schemas.microsoft.com/office/drawing/2014/main" id="{26F6D1CC-9A7A-D638-75E6-B6A739028BF8}"/>
              </a:ext>
            </a:extLst>
          </p:cNvPr>
          <p:cNvSpPr/>
          <p:nvPr/>
        </p:nvSpPr>
        <p:spPr>
          <a:xfrm>
            <a:off x="6334095" y="1439366"/>
            <a:ext cx="282436" cy="1735640"/>
          </a:xfrm>
          <a:prstGeom prst="leftBrac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9" name="図 88">
            <a:extLst>
              <a:ext uri="{FF2B5EF4-FFF2-40B4-BE49-F238E27FC236}">
                <a16:creationId xmlns:a16="http://schemas.microsoft.com/office/drawing/2014/main" id="{C435D0B7-3412-2897-70A0-52BC7EC6FA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5880" y="3730019"/>
            <a:ext cx="2258735" cy="732755"/>
          </a:xfrm>
          <a:prstGeom prst="rect">
            <a:avLst/>
          </a:prstGeom>
        </p:spPr>
      </p:pic>
      <p:grpSp>
        <p:nvGrpSpPr>
          <p:cNvPr id="98" name="グループ化 97">
            <a:extLst>
              <a:ext uri="{FF2B5EF4-FFF2-40B4-BE49-F238E27FC236}">
                <a16:creationId xmlns:a16="http://schemas.microsoft.com/office/drawing/2014/main" id="{7FEA2BD8-F479-8723-DBBA-704E24539363}"/>
              </a:ext>
            </a:extLst>
          </p:cNvPr>
          <p:cNvGrpSpPr/>
          <p:nvPr/>
        </p:nvGrpSpPr>
        <p:grpSpPr>
          <a:xfrm>
            <a:off x="6319064" y="3611974"/>
            <a:ext cx="3228360" cy="1346603"/>
            <a:chOff x="6175680" y="3913324"/>
            <a:chExt cx="3228360" cy="1346603"/>
          </a:xfrm>
        </p:grpSpPr>
        <p:pic>
          <p:nvPicPr>
            <p:cNvPr id="91" name="図 90">
              <a:extLst>
                <a:ext uri="{FF2B5EF4-FFF2-40B4-BE49-F238E27FC236}">
                  <a16:creationId xmlns:a16="http://schemas.microsoft.com/office/drawing/2014/main" id="{B8431763-3C75-62A9-F6BD-47640139284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367519" y="3938108"/>
              <a:ext cx="3036521" cy="1321819"/>
            </a:xfrm>
            <a:prstGeom prst="rect">
              <a:avLst/>
            </a:prstGeom>
          </p:spPr>
        </p:pic>
        <p:sp>
          <p:nvSpPr>
            <p:cNvPr id="92" name="左中かっこ 91">
              <a:extLst>
                <a:ext uri="{FF2B5EF4-FFF2-40B4-BE49-F238E27FC236}">
                  <a16:creationId xmlns:a16="http://schemas.microsoft.com/office/drawing/2014/main" id="{6A43702E-CB53-B3B9-5E08-FC03A25AA627}"/>
                </a:ext>
              </a:extLst>
            </p:cNvPr>
            <p:cNvSpPr/>
            <p:nvPr/>
          </p:nvSpPr>
          <p:spPr>
            <a:xfrm>
              <a:off x="6175680" y="3913324"/>
              <a:ext cx="286767" cy="1346603"/>
            </a:xfrm>
            <a:prstGeom prst="leftBrac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4" name="左中かっこ 93">
            <a:extLst>
              <a:ext uri="{FF2B5EF4-FFF2-40B4-BE49-F238E27FC236}">
                <a16:creationId xmlns:a16="http://schemas.microsoft.com/office/drawing/2014/main" id="{88F35680-3779-8C26-242E-5DEBF55534CA}"/>
              </a:ext>
            </a:extLst>
          </p:cNvPr>
          <p:cNvSpPr/>
          <p:nvPr/>
        </p:nvSpPr>
        <p:spPr>
          <a:xfrm>
            <a:off x="9641540" y="3637774"/>
            <a:ext cx="286767" cy="917243"/>
          </a:xfrm>
          <a:prstGeom prst="leftBrac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6" name="図 95">
            <a:extLst>
              <a:ext uri="{FF2B5EF4-FFF2-40B4-BE49-F238E27FC236}">
                <a16:creationId xmlns:a16="http://schemas.microsoft.com/office/drawing/2014/main" id="{F243FB9A-C077-BF70-0F8D-E267B83B9BF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2446" y="5113430"/>
            <a:ext cx="4509539" cy="1459567"/>
          </a:xfrm>
          <a:prstGeom prst="rect">
            <a:avLst/>
          </a:prstGeom>
        </p:spPr>
      </p:pic>
      <p:sp>
        <p:nvSpPr>
          <p:cNvPr id="99" name="コンテンツ プレースホルダー 2">
            <a:extLst>
              <a:ext uri="{FF2B5EF4-FFF2-40B4-BE49-F238E27FC236}">
                <a16:creationId xmlns:a16="http://schemas.microsoft.com/office/drawing/2014/main" id="{ABBF1475-9AFA-202F-59EA-EAE07D851311}"/>
              </a:ext>
            </a:extLst>
          </p:cNvPr>
          <p:cNvSpPr txBox="1">
            <a:spLocks/>
          </p:cNvSpPr>
          <p:nvPr/>
        </p:nvSpPr>
        <p:spPr>
          <a:xfrm>
            <a:off x="9318857" y="3321864"/>
            <a:ext cx="1456656" cy="31340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1600" dirty="0"/>
              <a:t>状態方程式へ</a:t>
            </a:r>
          </a:p>
        </p:txBody>
      </p:sp>
    </p:spTree>
    <p:extLst>
      <p:ext uri="{BB962C8B-B14F-4D97-AF65-F5344CB8AC3E}">
        <p14:creationId xmlns:p14="http://schemas.microsoft.com/office/powerpoint/2010/main" val="1400418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0F5C8-66BA-C917-8477-503F21101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33199E-EC82-9C9F-2AE6-22A6FDF37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2. </a:t>
            </a:r>
            <a:r>
              <a:rPr kumimoji="1" lang="ja-JP" altLang="en-US" dirty="0"/>
              <a:t>提案手法内容</a:t>
            </a:r>
            <a:r>
              <a:rPr lang="ja-JP" altLang="en-US" dirty="0"/>
              <a:t>　②強化学習のフレームワーク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8383E46-A7AB-56A0-D4BA-8FE50CCA9C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640" y="1114816"/>
            <a:ext cx="5554510" cy="5235272"/>
          </a:xfrm>
        </p:spPr>
        <p:txBody>
          <a:bodyPr/>
          <a:lstStyle/>
          <a:p>
            <a:pPr>
              <a:buFont typeface="Wingdings" panose="05000000000000000000" pitchFamily="2" charset="2"/>
              <a:buChar char="n"/>
            </a:pPr>
            <a:r>
              <a:rPr lang="ja-JP" altLang="en-US" b="1" dirty="0"/>
              <a:t>強化学習</a:t>
            </a:r>
            <a:endParaRPr kumimoji="1" lang="en-US" altLang="ja-JP" b="1" dirty="0"/>
          </a:p>
          <a:p>
            <a:pPr>
              <a:buFont typeface="Wingdings" panose="05000000000000000000" pitchFamily="2" charset="2"/>
              <a:buChar char="ü"/>
            </a:pPr>
            <a:r>
              <a:rPr lang="ja-JP" altLang="en-US" dirty="0"/>
              <a:t>強化学習のゴール</a:t>
            </a:r>
            <a:r>
              <a:rPr lang="en-US" altLang="ja-JP" dirty="0"/>
              <a:t> = </a:t>
            </a:r>
            <a:r>
              <a:rPr lang="ja-JP" altLang="en-US" dirty="0">
                <a:solidFill>
                  <a:srgbClr val="C00000"/>
                </a:solidFill>
              </a:rPr>
              <a:t>報酬をできる限り大きくする方策を見つけること</a:t>
            </a:r>
            <a:endParaRPr lang="en-US" altLang="ja-JP" dirty="0">
              <a:solidFill>
                <a:srgbClr val="C00000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kumimoji="1" lang="ja-JP" altLang="en-US" dirty="0"/>
              <a:t>本論文ではマルコフ決定過程の枠組みを利用</a:t>
            </a:r>
            <a:endParaRPr kumimoji="1" lang="en-US" altLang="ja-JP" dirty="0"/>
          </a:p>
          <a:p>
            <a:pPr>
              <a:buFont typeface="Wingdings" panose="05000000000000000000" pitchFamily="2" charset="2"/>
              <a:buChar char="ü"/>
            </a:pPr>
            <a:endParaRPr lang="en-US" altLang="ja-JP" dirty="0"/>
          </a:p>
          <a:p>
            <a:pPr>
              <a:buFont typeface="Wingdings" panose="05000000000000000000" pitchFamily="2" charset="2"/>
              <a:buChar char="n"/>
            </a:pPr>
            <a:r>
              <a:rPr kumimoji="1" lang="ja-JP" altLang="en-US" b="1" dirty="0"/>
              <a:t>マルコフ決定過程</a:t>
            </a:r>
            <a:r>
              <a:rPr kumimoji="1" lang="en-US" altLang="ja-JP" b="1" dirty="0"/>
              <a:t>(MDP)</a:t>
            </a:r>
          </a:p>
          <a:p>
            <a:pPr marL="0" indent="0">
              <a:buNone/>
            </a:pPr>
            <a:r>
              <a:rPr lang="ja-JP" altLang="en-US" dirty="0"/>
              <a:t>状態遷移が「現在の状態」と「そのときの行動」によって決定するモデル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2879FE-89D3-A2B0-9DCC-2EA7088F5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111BC-1026-41FD-925F-FB719F33286F}" type="slidenum">
              <a:rPr lang="ja-JP" altLang="en-US" smtClean="0"/>
              <a:pPr/>
              <a:t>5</a:t>
            </a:fld>
            <a:endParaRPr lang="ja-JP" altLang="en-US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8EA98144-AD90-65F3-CCB9-9AC5CA04E785}"/>
              </a:ext>
            </a:extLst>
          </p:cNvPr>
          <p:cNvSpPr txBox="1">
            <a:spLocks/>
          </p:cNvSpPr>
          <p:nvPr/>
        </p:nvSpPr>
        <p:spPr>
          <a:xfrm>
            <a:off x="1652587" y="2597150"/>
            <a:ext cx="4229100" cy="33457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1600" dirty="0"/>
              <a:t>※</a:t>
            </a:r>
            <a:r>
              <a:rPr lang="ja-JP" altLang="en-US" sz="1600" dirty="0"/>
              <a:t>方策：エージェントが従う行動のルール</a:t>
            </a:r>
            <a:endParaRPr lang="en-US" altLang="ja-JP" sz="16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20D6373-A098-3585-098C-6CD8E412630E}"/>
              </a:ext>
            </a:extLst>
          </p:cNvPr>
          <p:cNvSpPr txBox="1"/>
          <p:nvPr/>
        </p:nvSpPr>
        <p:spPr>
          <a:xfrm>
            <a:off x="1082675" y="6390015"/>
            <a:ext cx="41751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100" dirty="0"/>
              <a:t>( </a:t>
            </a:r>
            <a:r>
              <a:rPr lang="ja-JP" altLang="en-US" sz="1100" dirty="0">
                <a:hlinkClick r:id="rId2"/>
              </a:rPr>
              <a:t>https://www.geolab.jp/documents/column/ai-012/</a:t>
            </a:r>
            <a:r>
              <a:rPr lang="ja-JP" altLang="en-US" sz="1100" dirty="0"/>
              <a:t> </a:t>
            </a:r>
            <a:r>
              <a:rPr lang="en-US" altLang="ja-JP" sz="1100" dirty="0"/>
              <a:t>)</a:t>
            </a:r>
            <a:endParaRPr lang="ja-JP" altLang="en-US" sz="11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AB06037-FC53-734E-F1BB-BA9CC1C2A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799" y="4106552"/>
            <a:ext cx="3960192" cy="2263499"/>
          </a:xfrm>
          <a:prstGeom prst="rect">
            <a:avLst/>
          </a:prstGeom>
        </p:spPr>
      </p:pic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F21942BB-8821-E7D8-6445-4F1F7A4BF0BD}"/>
              </a:ext>
            </a:extLst>
          </p:cNvPr>
          <p:cNvSpPr txBox="1">
            <a:spLocks/>
          </p:cNvSpPr>
          <p:nvPr/>
        </p:nvSpPr>
        <p:spPr>
          <a:xfrm>
            <a:off x="5957256" y="1114816"/>
            <a:ext cx="5554510" cy="52352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n"/>
            </a:pPr>
            <a:r>
              <a:rPr lang="en-US" altLang="ja-JP" b="1" dirty="0"/>
              <a:t>MDP</a:t>
            </a:r>
            <a:r>
              <a:rPr lang="ja-JP" altLang="en-US" b="1" dirty="0"/>
              <a:t>を利用したワークフロー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CD428C12-4E45-3B66-D60F-08A7EDFCCF40}"/>
              </a:ext>
            </a:extLst>
          </p:cNvPr>
          <p:cNvGrpSpPr/>
          <p:nvPr/>
        </p:nvGrpSpPr>
        <p:grpSpPr>
          <a:xfrm>
            <a:off x="6692747" y="1619967"/>
            <a:ext cx="5202061" cy="4981575"/>
            <a:chOff x="6692747" y="1619967"/>
            <a:chExt cx="5202061" cy="4981575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FE6ED542-0B76-4162-9636-2CA98E8FE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92747" y="1619967"/>
              <a:ext cx="5202061" cy="4981575"/>
            </a:xfrm>
            <a:prstGeom prst="rect">
              <a:avLst/>
            </a:prstGeom>
          </p:spPr>
        </p:pic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9949CB7E-2113-0161-02FF-BD29AAB72B31}"/>
                </a:ext>
              </a:extLst>
            </p:cNvPr>
            <p:cNvSpPr txBox="1"/>
            <p:nvPr/>
          </p:nvSpPr>
          <p:spPr>
            <a:xfrm>
              <a:off x="7330020" y="1619967"/>
              <a:ext cx="12105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600" b="1" dirty="0">
                  <a:solidFill>
                    <a:srgbClr val="C00000"/>
                  </a:solidFill>
                </a:rPr>
                <a:t>入力データ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0157A547-AA0A-5DD1-8C51-9D92C9667507}"/>
                </a:ext>
              </a:extLst>
            </p:cNvPr>
            <p:cNvSpPr txBox="1"/>
            <p:nvPr/>
          </p:nvSpPr>
          <p:spPr>
            <a:xfrm>
              <a:off x="8493558" y="5420355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C00000"/>
                  </a:solidFill>
                </a:rPr>
                <a:t>報酬関数</a:t>
              </a:r>
              <a:endParaRPr kumimoji="1" lang="ja-JP" altLang="en-US" sz="1600" b="1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73933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EA884-41B1-74B9-3BC0-74CC473AA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B45710-554B-669A-C394-FA43480F5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2. </a:t>
            </a:r>
            <a:r>
              <a:rPr kumimoji="1" lang="ja-JP" altLang="en-US" dirty="0"/>
              <a:t>提案手法内容</a:t>
            </a:r>
            <a:r>
              <a:rPr lang="ja-JP" altLang="en-US" dirty="0"/>
              <a:t>　②強化学習のフレームワーク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12B2A18-3A69-B456-A817-C290CDA4D7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640" y="1114816"/>
            <a:ext cx="5554510" cy="5235272"/>
          </a:xfrm>
        </p:spPr>
        <p:txBody>
          <a:bodyPr/>
          <a:lstStyle/>
          <a:p>
            <a:pPr>
              <a:buFont typeface="Wingdings" panose="05000000000000000000" pitchFamily="2" charset="2"/>
              <a:buChar char="n"/>
            </a:pPr>
            <a:r>
              <a:rPr kumimoji="1" lang="ja-JP" altLang="en-US" b="1" dirty="0"/>
              <a:t>報酬関数</a:t>
            </a:r>
            <a:r>
              <a:rPr kumimoji="1" lang="en-US" altLang="ja-JP" b="1" dirty="0"/>
              <a:t>(Reward)</a:t>
            </a:r>
          </a:p>
          <a:p>
            <a:r>
              <a:rPr lang="en-US" altLang="ja-JP" dirty="0"/>
              <a:t>AI</a:t>
            </a:r>
            <a:r>
              <a:rPr lang="ja-JP" altLang="en-US" dirty="0"/>
              <a:t>のアクションを評価する採点基準</a:t>
            </a:r>
            <a:endParaRPr lang="en-US" altLang="ja-JP" dirty="0"/>
          </a:p>
          <a:p>
            <a:r>
              <a:rPr lang="ja-JP" altLang="en-US" dirty="0"/>
              <a:t>重み付け係数　　　　　でバランス調整</a:t>
            </a: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endParaRPr kumimoji="1" lang="en-US" altLang="ja-JP" sz="800" dirty="0"/>
          </a:p>
          <a:p>
            <a:pPr marL="0" indent="0">
              <a:buNone/>
            </a:pP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8A2CCCF-D857-73FC-E714-C577DDEA3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111BC-1026-41FD-925F-FB719F33286F}" type="slidenum">
              <a:rPr lang="ja-JP" altLang="en-US" smtClean="0"/>
              <a:pPr/>
              <a:t>6</a:t>
            </a:fld>
            <a:endParaRPr lang="ja-JP" altLang="en-US"/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733E7044-9B0D-45D9-B217-5F24D10825A0}"/>
              </a:ext>
            </a:extLst>
          </p:cNvPr>
          <p:cNvSpPr txBox="1">
            <a:spLocks/>
          </p:cNvSpPr>
          <p:nvPr/>
        </p:nvSpPr>
        <p:spPr>
          <a:xfrm>
            <a:off x="5957256" y="1114816"/>
            <a:ext cx="5554510" cy="52352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n"/>
            </a:pPr>
            <a:r>
              <a:rPr lang="en-US" altLang="ja-JP" b="1" dirty="0"/>
              <a:t>DDPG</a:t>
            </a:r>
            <a:r>
              <a:rPr lang="ja-JP" altLang="en-US" b="1" dirty="0"/>
              <a:t>アルゴリズム</a:t>
            </a:r>
            <a:endParaRPr lang="en-US" altLang="ja-JP" b="1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altLang="ja-JP" dirty="0"/>
              <a:t>2</a:t>
            </a:r>
            <a:r>
              <a:rPr lang="ja-JP" altLang="en-US" dirty="0"/>
              <a:t>つの深層</a:t>
            </a:r>
            <a:r>
              <a:rPr lang="en-US" altLang="ja-JP" dirty="0"/>
              <a:t>NN</a:t>
            </a:r>
            <a:r>
              <a:rPr lang="ja-JP" altLang="en-US" dirty="0"/>
              <a:t>「</a:t>
            </a:r>
            <a:r>
              <a:rPr lang="ja-JP" altLang="en-US" dirty="0">
                <a:solidFill>
                  <a:srgbClr val="C00000"/>
                </a:solidFill>
              </a:rPr>
              <a:t>アクター</a:t>
            </a:r>
            <a:r>
              <a:rPr lang="ja-JP" altLang="en-US" dirty="0"/>
              <a:t>」と「</a:t>
            </a:r>
            <a:r>
              <a:rPr lang="ja-JP" altLang="en-US" dirty="0">
                <a:solidFill>
                  <a:srgbClr val="C00000"/>
                </a:solidFill>
              </a:rPr>
              <a:t>クリティック</a:t>
            </a:r>
            <a:r>
              <a:rPr lang="ja-JP" altLang="en-US" dirty="0"/>
              <a:t>」が対話するように働く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ü"/>
            </a:pPr>
            <a:r>
              <a:rPr lang="ja-JP" altLang="en-US" dirty="0"/>
              <a:t>下図の過程で合計報酬を最大化する最適な方策を探して見つける</a:t>
            </a:r>
            <a:endParaRPr lang="en-US" altLang="ja-JP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40A192C-4141-CA0C-E79C-0DE5D618E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0" y="2341466"/>
            <a:ext cx="5454650" cy="365465"/>
          </a:xfrm>
          <a:prstGeom prst="rect">
            <a:avLst/>
          </a:prstGeom>
        </p:spPr>
      </p:pic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8339E150-C914-7113-26DF-FA4CC243D0E8}"/>
              </a:ext>
            </a:extLst>
          </p:cNvPr>
          <p:cNvGrpSpPr/>
          <p:nvPr/>
        </p:nvGrpSpPr>
        <p:grpSpPr>
          <a:xfrm>
            <a:off x="1364987" y="2714203"/>
            <a:ext cx="4119233" cy="3944642"/>
            <a:chOff x="1364987" y="2714203"/>
            <a:chExt cx="4119233" cy="394464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F4F5C9E9-4494-76DB-BECF-4D622A9D38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64987" y="2714203"/>
              <a:ext cx="4119233" cy="3944642"/>
            </a:xfrm>
            <a:prstGeom prst="rect">
              <a:avLst/>
            </a:prstGeom>
          </p:spPr>
        </p:pic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E7E23CF0-3CB4-12B7-EA77-6FEC01D49856}"/>
                </a:ext>
              </a:extLst>
            </p:cNvPr>
            <p:cNvSpPr txBox="1"/>
            <p:nvPr/>
          </p:nvSpPr>
          <p:spPr>
            <a:xfrm>
              <a:off x="1712067" y="5093900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C00000"/>
                  </a:solidFill>
                </a:rPr>
                <a:t>報酬関数</a:t>
              </a:r>
              <a:endParaRPr kumimoji="1" lang="ja-JP" altLang="en-US" sz="1600" b="1" dirty="0">
                <a:solidFill>
                  <a:srgbClr val="C00000"/>
                </a:solidFill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62B51CA3-5927-4919-1744-E946B35EF20C}"/>
                </a:ext>
              </a:extLst>
            </p:cNvPr>
            <p:cNvSpPr/>
            <p:nvPr/>
          </p:nvSpPr>
          <p:spPr>
            <a:xfrm>
              <a:off x="2774950" y="4565650"/>
              <a:ext cx="1187450" cy="12827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15" name="図 14">
            <a:extLst>
              <a:ext uri="{FF2B5EF4-FFF2-40B4-BE49-F238E27FC236}">
                <a16:creationId xmlns:a16="http://schemas.microsoft.com/office/drawing/2014/main" id="{9571D39B-1A30-39FA-ECA6-5180C2019F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15" y="1934486"/>
            <a:ext cx="1137310" cy="280323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41A99607-F82D-B160-623A-E2498DD174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7097" y="2858330"/>
            <a:ext cx="4324623" cy="386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860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B2B66-CC71-A19F-5F1B-EFAF6BE8C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506FD2-1014-CFC7-ED76-7C48794CC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3. </a:t>
            </a:r>
            <a:r>
              <a:rPr lang="ja-JP" altLang="en-US" dirty="0"/>
              <a:t>シミュレーション結果</a:t>
            </a:r>
            <a:r>
              <a:rPr kumimoji="1" lang="en-US" altLang="ja-JP" dirty="0"/>
              <a:t> 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D9DB6C7-527C-2D84-C478-857104538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B413313-A0C7-DDE5-7135-E99AA92C7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111BC-1026-41FD-925F-FB719F33286F}" type="slidenum">
              <a:rPr lang="ja-JP" altLang="en-US" smtClean="0"/>
              <a:pPr/>
              <a:t>7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37852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7AF9A6-C415-2F36-A5DF-093815C20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4. </a:t>
            </a:r>
            <a:r>
              <a:rPr kumimoji="1" lang="ja-JP" altLang="en-US" dirty="0"/>
              <a:t>論文評価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445F3D-A469-43E3-9F1E-381BDA709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87AAE25-DFC2-3082-D501-96D79DE52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111BC-1026-41FD-925F-FB719F33286F}" type="slidenum">
              <a:rPr lang="ja-JP" altLang="en-US" smtClean="0"/>
              <a:pPr/>
              <a:t>8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860762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メイリオフォント">
      <a:majorFont>
        <a:latin typeface="Meiryo UI"/>
        <a:ea typeface="メイリオ"/>
        <a:cs typeface=""/>
      </a:majorFont>
      <a:minorFont>
        <a:latin typeface="Meiryo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1085</TotalTime>
  <Words>538</Words>
  <Application>Microsoft Office PowerPoint</Application>
  <PresentationFormat>ワイド画面</PresentationFormat>
  <Paragraphs>78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Meiryo UI</vt:lpstr>
      <vt:lpstr>游ゴシック</vt:lpstr>
      <vt:lpstr>Arial</vt:lpstr>
      <vt:lpstr>Wingdings</vt:lpstr>
      <vt:lpstr>Office テーマ</vt:lpstr>
      <vt:lpstr>PowerPoint プレゼンテーション</vt:lpstr>
      <vt:lpstr>1. 研究概要</vt:lpstr>
      <vt:lpstr>2. 提案手法内容　①強化学習前の下処理(d-q変換)</vt:lpstr>
      <vt:lpstr>2. 提案手法内容　①強化学習前の下処理(小信号モデル)</vt:lpstr>
      <vt:lpstr>2. 提案手法内容　②強化学習のフレームワーク</vt:lpstr>
      <vt:lpstr>2. 提案手法内容　②強化学習のフレームワーク</vt:lpstr>
      <vt:lpstr>3. シミュレーション結果 </vt:lpstr>
      <vt:lpstr>4. 論文評価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福万　恭平</dc:creator>
  <cp:lastModifiedBy>福万　恭平</cp:lastModifiedBy>
  <cp:revision>11</cp:revision>
  <dcterms:created xsi:type="dcterms:W3CDTF">2026-04-09T02:18:07Z</dcterms:created>
  <dcterms:modified xsi:type="dcterms:W3CDTF">2026-04-10T16:47:58Z</dcterms:modified>
</cp:coreProperties>
</file>