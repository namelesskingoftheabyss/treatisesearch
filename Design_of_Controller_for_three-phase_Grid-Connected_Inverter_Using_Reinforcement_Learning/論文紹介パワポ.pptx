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56" r:id="rId2"/>
    <p:sldId id="258" r:id="rId3"/>
    <p:sldId id="260" r:id="rId4"/>
    <p:sldId id="264" r:id="rId5"/>
    <p:sldId id="261" r:id="rId6"/>
    <p:sldId id="265" r:id="rId7"/>
    <p:sldId id="262" r:id="rId8"/>
    <p:sldId id="267" r:id="rId9"/>
    <p:sldId id="266" r:id="rId10"/>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6" autoAdjust="0"/>
    <p:restoredTop sz="95107" autoAdjust="0"/>
  </p:normalViewPr>
  <p:slideViewPr>
    <p:cSldViewPr snapToGrid="0">
      <p:cViewPr varScale="1">
        <p:scale>
          <a:sx n="115" d="100"/>
          <a:sy n="115" d="100"/>
        </p:scale>
        <p:origin x="744" y="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BC8E92A-ACD5-4BB2-BB82-C13E78ACB96C}" type="datetimeFigureOut">
              <a:rPr kumimoji="1" lang="ja-JP" altLang="en-US" smtClean="0"/>
              <a:t>2026/4/14</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07D9654-7C46-420E-A93D-1E6EABEEBC09}" type="slidenum">
              <a:rPr kumimoji="1" lang="ja-JP" altLang="en-US" smtClean="0"/>
              <a:t>‹#›</a:t>
            </a:fld>
            <a:endParaRPr kumimoji="1" lang="ja-JP" altLang="en-US"/>
          </a:p>
        </p:txBody>
      </p:sp>
    </p:spTree>
    <p:extLst>
      <p:ext uri="{BB962C8B-B14F-4D97-AF65-F5344CB8AC3E}">
        <p14:creationId xmlns:p14="http://schemas.microsoft.com/office/powerpoint/2010/main" val="1710203047"/>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9D39427-C9CC-9FFD-1626-FAC448A86A64}"/>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B4B4B6D4-7517-3B96-3079-5C1A7C2C148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6" name="スライド番号プレースホルダー 5">
            <a:extLst>
              <a:ext uri="{FF2B5EF4-FFF2-40B4-BE49-F238E27FC236}">
                <a16:creationId xmlns:a16="http://schemas.microsoft.com/office/drawing/2014/main" id="{C7556B07-A791-DEB2-8C27-975D94CF382A}"/>
              </a:ext>
            </a:extLst>
          </p:cNvPr>
          <p:cNvSpPr>
            <a:spLocks noGrp="1"/>
          </p:cNvSpPr>
          <p:nvPr>
            <p:ph type="sldNum" sz="quarter" idx="12"/>
          </p:nvPr>
        </p:nvSpPr>
        <p:spPr/>
        <p:txBody>
          <a:bodyPr/>
          <a:lstStyle/>
          <a:p>
            <a:fld id="{F60111BC-1026-41FD-925F-FB719F33286F}" type="slidenum">
              <a:rPr kumimoji="1" lang="ja-JP" altLang="en-US" smtClean="0"/>
              <a:t>‹#›</a:t>
            </a:fld>
            <a:endParaRPr kumimoji="1" lang="ja-JP" altLang="en-US"/>
          </a:p>
        </p:txBody>
      </p:sp>
    </p:spTree>
    <p:extLst>
      <p:ext uri="{BB962C8B-B14F-4D97-AF65-F5344CB8AC3E}">
        <p14:creationId xmlns:p14="http://schemas.microsoft.com/office/powerpoint/2010/main" val="23530571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FA5466A-D634-5A96-8202-7766E945810E}"/>
              </a:ext>
            </a:extLst>
          </p:cNvPr>
          <p:cNvSpPr>
            <a:spLocks noGrp="1"/>
          </p:cNvSpPr>
          <p:nvPr>
            <p:ph type="title"/>
          </p:nvPr>
        </p:nvSpPr>
        <p:spPr>
          <a:xfrm>
            <a:off x="217640" y="199155"/>
            <a:ext cx="11756720" cy="690193"/>
          </a:xfrm>
        </p:spPr>
        <p:txBody>
          <a:bodyPr>
            <a:normAutofit/>
          </a:bodyPr>
          <a:lstStyle>
            <a:lvl1pPr>
              <a:defRPr sz="2800" b="1"/>
            </a:lvl1pPr>
          </a:lstStyle>
          <a:p>
            <a:r>
              <a:rPr kumimoji="1" lang="ja-JP" altLang="en-US" dirty="0"/>
              <a:t>マスター タイトルの書式設定</a:t>
            </a:r>
          </a:p>
        </p:txBody>
      </p:sp>
      <p:sp>
        <p:nvSpPr>
          <p:cNvPr id="3" name="コンテンツ プレースホルダー 2">
            <a:extLst>
              <a:ext uri="{FF2B5EF4-FFF2-40B4-BE49-F238E27FC236}">
                <a16:creationId xmlns:a16="http://schemas.microsoft.com/office/drawing/2014/main" id="{0EBBFFE8-A1B3-8C9F-1E6A-EF88481A2449}"/>
              </a:ext>
            </a:extLst>
          </p:cNvPr>
          <p:cNvSpPr>
            <a:spLocks noGrp="1"/>
          </p:cNvSpPr>
          <p:nvPr>
            <p:ph idx="1"/>
          </p:nvPr>
        </p:nvSpPr>
        <p:spPr>
          <a:xfrm>
            <a:off x="217640" y="1114816"/>
            <a:ext cx="11756720" cy="5235272"/>
          </a:xfrm>
        </p:spPr>
        <p:txBody>
          <a:bodyPr>
            <a:normAutofit/>
          </a:bodyPr>
          <a:lstStyle>
            <a:lvl1pPr>
              <a:defRPr sz="2000"/>
            </a:lvl1pPr>
            <a:lvl2pPr>
              <a:defRPr sz="2000"/>
            </a:lvl2pPr>
            <a:lvl3pPr>
              <a:defRPr sz="2000"/>
            </a:lvl3pPr>
            <a:lvl4pPr>
              <a:defRPr sz="2000"/>
            </a:lvl4pPr>
            <a:lvl5pPr>
              <a:defRPr sz="2000"/>
            </a:lvl5p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6" name="スライド番号プレースホルダー 5">
            <a:extLst>
              <a:ext uri="{FF2B5EF4-FFF2-40B4-BE49-F238E27FC236}">
                <a16:creationId xmlns:a16="http://schemas.microsoft.com/office/drawing/2014/main" id="{7E88BBAD-8681-20F3-C28F-979996FC65A0}"/>
              </a:ext>
            </a:extLst>
          </p:cNvPr>
          <p:cNvSpPr>
            <a:spLocks noGrp="1"/>
          </p:cNvSpPr>
          <p:nvPr>
            <p:ph type="sldNum" sz="quarter" idx="12"/>
          </p:nvPr>
        </p:nvSpPr>
        <p:spPr>
          <a:xfrm>
            <a:off x="4724400" y="6418980"/>
            <a:ext cx="2743200" cy="365125"/>
          </a:xfrm>
        </p:spPr>
        <p:txBody>
          <a:bodyPr/>
          <a:lstStyle>
            <a:lvl1pPr algn="ctr">
              <a:defRPr/>
            </a:lvl1pPr>
          </a:lstStyle>
          <a:p>
            <a:fld id="{F60111BC-1026-41FD-925F-FB719F33286F}" type="slidenum">
              <a:rPr lang="ja-JP" altLang="en-US" smtClean="0"/>
              <a:pPr/>
              <a:t>‹#›</a:t>
            </a:fld>
            <a:endParaRPr lang="ja-JP" altLang="en-US"/>
          </a:p>
        </p:txBody>
      </p:sp>
      <p:cxnSp>
        <p:nvCxnSpPr>
          <p:cNvPr id="8" name="直線コネクタ 7">
            <a:extLst>
              <a:ext uri="{FF2B5EF4-FFF2-40B4-BE49-F238E27FC236}">
                <a16:creationId xmlns:a16="http://schemas.microsoft.com/office/drawing/2014/main" id="{54E8A269-8737-9D54-34F7-DED33506F180}"/>
              </a:ext>
            </a:extLst>
          </p:cNvPr>
          <p:cNvCxnSpPr/>
          <p:nvPr userDrawn="1"/>
        </p:nvCxnSpPr>
        <p:spPr>
          <a:xfrm>
            <a:off x="251825" y="820455"/>
            <a:ext cx="11688349" cy="0"/>
          </a:xfrm>
          <a:prstGeom prst="line">
            <a:avLst/>
          </a:prstGeom>
          <a:ln>
            <a:solidFill>
              <a:schemeClr val="bg1">
                <a:lumMod val="6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9174395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094A8A6F-FB66-CF93-D320-61D9C7E8F9D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9E69706C-BF52-326D-1C69-694CB9CCAB3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スライド番号プレースホルダー 5">
            <a:extLst>
              <a:ext uri="{FF2B5EF4-FFF2-40B4-BE49-F238E27FC236}">
                <a16:creationId xmlns:a16="http://schemas.microsoft.com/office/drawing/2014/main" id="{FD666C31-6851-6BB7-C5F5-B9365FD3B44B}"/>
              </a:ext>
            </a:extLst>
          </p:cNvPr>
          <p:cNvSpPr>
            <a:spLocks noGrp="1"/>
          </p:cNvSpPr>
          <p:nvPr>
            <p:ph type="sldNum" sz="quarter" idx="4"/>
          </p:nvPr>
        </p:nvSpPr>
        <p:spPr>
          <a:xfrm>
            <a:off x="4724400" y="6417719"/>
            <a:ext cx="27432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pPr algn="ctr"/>
            <a:fld id="{F60111BC-1026-41FD-925F-FB719F33286F}" type="slidenum">
              <a:rPr lang="ja-JP" altLang="en-US" smtClean="0"/>
              <a:pPr/>
              <a:t>‹#›</a:t>
            </a:fld>
            <a:endParaRPr lang="ja-JP" altLang="en-US"/>
          </a:p>
        </p:txBody>
      </p:sp>
    </p:spTree>
    <p:extLst>
      <p:ext uri="{BB962C8B-B14F-4D97-AF65-F5344CB8AC3E}">
        <p14:creationId xmlns:p14="http://schemas.microsoft.com/office/powerpoint/2010/main" val="2979254811"/>
      </p:ext>
    </p:extLst>
  </p:cSld>
  <p:clrMap bg1="lt1" tx1="dk1" bg2="lt2" tx2="dk2" accent1="accent1" accent2="accent2" accent3="accent3" accent4="accent4" accent5="accent5" accent6="accent6" hlink="hlink" folHlink="folHlink"/>
  <p:sldLayoutIdLst>
    <p:sldLayoutId id="2147483649" r:id="rId1"/>
    <p:sldLayoutId id="2147483650" r:id="rId2"/>
  </p:sldLayoutIdLst>
  <p:hf hdr="0" ftr="0" dt="0"/>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7.png"/><Relationship Id="rId7" Type="http://schemas.openxmlformats.org/officeDocument/2006/relationships/image" Target="../media/image10.pn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3.png"/><Relationship Id="rId9" Type="http://schemas.openxmlformats.org/officeDocument/2006/relationships/image" Target="../media/image12.png"/></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hyperlink" Target="https://www.geolab.jp/documents/column/ai-012/" TargetMode="Externa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5.png"/><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s>
</file>

<file path=ppt/slides/_rels/slide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2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テキスト ボックス 13">
            <a:extLst>
              <a:ext uri="{FF2B5EF4-FFF2-40B4-BE49-F238E27FC236}">
                <a16:creationId xmlns:a16="http://schemas.microsoft.com/office/drawing/2014/main" id="{0EB17879-43D7-D0F7-AAF9-092E49F3AF6C}"/>
              </a:ext>
            </a:extLst>
          </p:cNvPr>
          <p:cNvSpPr txBox="1"/>
          <p:nvPr/>
        </p:nvSpPr>
        <p:spPr>
          <a:xfrm>
            <a:off x="7755834" y="6230949"/>
            <a:ext cx="3869634" cy="369332"/>
          </a:xfrm>
          <a:prstGeom prst="rect">
            <a:avLst/>
          </a:prstGeom>
          <a:noFill/>
        </p:spPr>
        <p:txBody>
          <a:bodyPr wrap="square">
            <a:spAutoFit/>
          </a:bodyPr>
          <a:lstStyle/>
          <a:p>
            <a:pPr algn="ctr"/>
            <a:r>
              <a:rPr lang="ja-JP" altLang="en-US" dirty="0"/>
              <a:t>資料作成 </a:t>
            </a:r>
            <a:r>
              <a:rPr lang="en-US" altLang="ja-JP" dirty="0"/>
              <a:t>: AE22042 </a:t>
            </a:r>
            <a:r>
              <a:rPr lang="ja-JP" altLang="en-US" dirty="0"/>
              <a:t>福万恭平</a:t>
            </a:r>
          </a:p>
        </p:txBody>
      </p:sp>
      <p:sp>
        <p:nvSpPr>
          <p:cNvPr id="16" name="スライド番号プレースホルダー 15">
            <a:extLst>
              <a:ext uri="{FF2B5EF4-FFF2-40B4-BE49-F238E27FC236}">
                <a16:creationId xmlns:a16="http://schemas.microsoft.com/office/drawing/2014/main" id="{74BC3AF1-C633-F9BB-A28C-94D23AA9883C}"/>
              </a:ext>
            </a:extLst>
          </p:cNvPr>
          <p:cNvSpPr>
            <a:spLocks noGrp="1"/>
          </p:cNvSpPr>
          <p:nvPr>
            <p:ph type="sldNum" sz="quarter" idx="12"/>
          </p:nvPr>
        </p:nvSpPr>
        <p:spPr/>
        <p:txBody>
          <a:bodyPr/>
          <a:lstStyle/>
          <a:p>
            <a:fld id="{F60111BC-1026-41FD-925F-FB719F33286F}" type="slidenum">
              <a:rPr kumimoji="1" lang="ja-JP" altLang="en-US" smtClean="0"/>
              <a:t>1</a:t>
            </a:fld>
            <a:endParaRPr kumimoji="1" lang="ja-JP" altLang="en-US"/>
          </a:p>
        </p:txBody>
      </p:sp>
      <p:grpSp>
        <p:nvGrpSpPr>
          <p:cNvPr id="11" name="グループ化 10">
            <a:extLst>
              <a:ext uri="{FF2B5EF4-FFF2-40B4-BE49-F238E27FC236}">
                <a16:creationId xmlns:a16="http://schemas.microsoft.com/office/drawing/2014/main" id="{0E845284-35A0-8321-85B5-FCDB526317AA}"/>
              </a:ext>
            </a:extLst>
          </p:cNvPr>
          <p:cNvGrpSpPr/>
          <p:nvPr/>
        </p:nvGrpSpPr>
        <p:grpSpPr>
          <a:xfrm>
            <a:off x="311426" y="1617301"/>
            <a:ext cx="11569148" cy="3623397"/>
            <a:chOff x="311426" y="543894"/>
            <a:chExt cx="11569148" cy="3623397"/>
          </a:xfrm>
        </p:grpSpPr>
        <p:sp>
          <p:nvSpPr>
            <p:cNvPr id="15" name="テキスト ボックス 14">
              <a:extLst>
                <a:ext uri="{FF2B5EF4-FFF2-40B4-BE49-F238E27FC236}">
                  <a16:creationId xmlns:a16="http://schemas.microsoft.com/office/drawing/2014/main" id="{A553B8EC-3F5B-AEE7-80FE-31E613E9E1A4}"/>
                </a:ext>
              </a:extLst>
            </p:cNvPr>
            <p:cNvSpPr txBox="1"/>
            <p:nvPr/>
          </p:nvSpPr>
          <p:spPr>
            <a:xfrm>
              <a:off x="2551042" y="3368197"/>
              <a:ext cx="7089913" cy="646331"/>
            </a:xfrm>
            <a:prstGeom prst="rect">
              <a:avLst/>
            </a:prstGeom>
            <a:noFill/>
          </p:spPr>
          <p:txBody>
            <a:bodyPr wrap="square">
              <a:spAutoFit/>
            </a:bodyPr>
            <a:lstStyle/>
            <a:p>
              <a:pPr algn="ctr"/>
              <a:r>
                <a:rPr lang="en-US" altLang="ja-JP" b="1" dirty="0"/>
                <a:t>Author :</a:t>
              </a:r>
              <a:r>
                <a:rPr lang="ja-JP" altLang="en-US" b="1" dirty="0"/>
                <a:t> </a:t>
              </a:r>
              <a:r>
                <a:rPr lang="en-US" altLang="ja-JP" dirty="0"/>
                <a:t>Raj </a:t>
              </a:r>
              <a:r>
                <a:rPr lang="en-US" altLang="ja-JP" dirty="0" err="1"/>
                <a:t>kumar</a:t>
              </a:r>
              <a:r>
                <a:rPr lang="en-US" altLang="ja-JP" dirty="0"/>
                <a:t> Mahto, Pankaj Mishra, Aftab Alam  </a:t>
              </a:r>
            </a:p>
            <a:p>
              <a:pPr algn="ctr"/>
              <a:endParaRPr lang="ja-JP" altLang="en-US" b="1" dirty="0"/>
            </a:p>
          </p:txBody>
        </p:sp>
        <p:sp>
          <p:nvSpPr>
            <p:cNvPr id="9" name="テキスト ボックス 8">
              <a:extLst>
                <a:ext uri="{FF2B5EF4-FFF2-40B4-BE49-F238E27FC236}">
                  <a16:creationId xmlns:a16="http://schemas.microsoft.com/office/drawing/2014/main" id="{FF3EEAC6-1A43-0460-044C-0CA32106812D}"/>
                </a:ext>
              </a:extLst>
            </p:cNvPr>
            <p:cNvSpPr txBox="1"/>
            <p:nvPr/>
          </p:nvSpPr>
          <p:spPr>
            <a:xfrm>
              <a:off x="4946372" y="3797959"/>
              <a:ext cx="2299251" cy="369332"/>
            </a:xfrm>
            <a:prstGeom prst="rect">
              <a:avLst/>
            </a:prstGeom>
            <a:noFill/>
          </p:spPr>
          <p:txBody>
            <a:bodyPr wrap="square">
              <a:spAutoFit/>
            </a:bodyPr>
            <a:lstStyle/>
            <a:p>
              <a:pPr algn="ctr"/>
              <a:r>
                <a:rPr lang="en-US" altLang="ja-JP" dirty="0"/>
                <a:t>(ISTEMS 2024)</a:t>
              </a:r>
              <a:endParaRPr lang="ja-JP" altLang="en-US" dirty="0"/>
            </a:p>
          </p:txBody>
        </p:sp>
        <p:grpSp>
          <p:nvGrpSpPr>
            <p:cNvPr id="7" name="グループ化 6">
              <a:extLst>
                <a:ext uri="{FF2B5EF4-FFF2-40B4-BE49-F238E27FC236}">
                  <a16:creationId xmlns:a16="http://schemas.microsoft.com/office/drawing/2014/main" id="{ABD696C0-9CE7-E27E-4CC4-3AC3E7F463B8}"/>
                </a:ext>
              </a:extLst>
            </p:cNvPr>
            <p:cNvGrpSpPr/>
            <p:nvPr/>
          </p:nvGrpSpPr>
          <p:grpSpPr>
            <a:xfrm>
              <a:off x="311426" y="543894"/>
              <a:ext cx="11569148" cy="2515187"/>
              <a:chOff x="311426" y="1062472"/>
              <a:chExt cx="11569148" cy="2515187"/>
            </a:xfrm>
          </p:grpSpPr>
          <p:sp>
            <p:nvSpPr>
              <p:cNvPr id="5" name="テキスト ボックス 4">
                <a:extLst>
                  <a:ext uri="{FF2B5EF4-FFF2-40B4-BE49-F238E27FC236}">
                    <a16:creationId xmlns:a16="http://schemas.microsoft.com/office/drawing/2014/main" id="{2B58F8ED-2FF6-036A-B450-528817F26E11}"/>
                  </a:ext>
                </a:extLst>
              </p:cNvPr>
              <p:cNvSpPr txBox="1"/>
              <p:nvPr/>
            </p:nvSpPr>
            <p:spPr>
              <a:xfrm>
                <a:off x="311426" y="1812663"/>
                <a:ext cx="11569148" cy="1200329"/>
              </a:xfrm>
              <a:prstGeom prst="rect">
                <a:avLst/>
              </a:prstGeom>
              <a:noFill/>
            </p:spPr>
            <p:txBody>
              <a:bodyPr wrap="square">
                <a:spAutoFit/>
              </a:bodyPr>
              <a:lstStyle/>
              <a:p>
                <a:pPr algn="ctr"/>
                <a:r>
                  <a:rPr lang="en-US" altLang="ja-JP" sz="3600" b="0" i="0" dirty="0">
                    <a:effectLst/>
                    <a:latin typeface="Arial" panose="020B0604020202020204" pitchFamily="34" charset="0"/>
                  </a:rPr>
                  <a:t>“ Design of Controller for three-phase</a:t>
                </a:r>
                <a:r>
                  <a:rPr lang="en-US" altLang="ja-JP" sz="3600" dirty="0">
                    <a:latin typeface="Arial" panose="020B0604020202020204" pitchFamily="34" charset="0"/>
                  </a:rPr>
                  <a:t> </a:t>
                </a:r>
                <a:r>
                  <a:rPr lang="en-US" altLang="ja-JP" sz="3600" b="0" i="0" dirty="0">
                    <a:effectLst/>
                    <a:latin typeface="Arial" panose="020B0604020202020204" pitchFamily="34" charset="0"/>
                  </a:rPr>
                  <a:t>Grid-Connected Inverter Using Reinforcement Learning ”</a:t>
                </a:r>
                <a:endParaRPr lang="ja-JP" altLang="en-US" sz="3600" dirty="0"/>
              </a:p>
            </p:txBody>
          </p:sp>
          <p:sp>
            <p:nvSpPr>
              <p:cNvPr id="6" name="テキスト ボックス 5">
                <a:extLst>
                  <a:ext uri="{FF2B5EF4-FFF2-40B4-BE49-F238E27FC236}">
                    <a16:creationId xmlns:a16="http://schemas.microsoft.com/office/drawing/2014/main" id="{02DED90C-70D8-AB50-DD24-ADE46F100560}"/>
                  </a:ext>
                </a:extLst>
              </p:cNvPr>
              <p:cNvSpPr txBox="1"/>
              <p:nvPr/>
            </p:nvSpPr>
            <p:spPr>
              <a:xfrm>
                <a:off x="5102087" y="1062472"/>
                <a:ext cx="1987826" cy="646331"/>
              </a:xfrm>
              <a:prstGeom prst="rect">
                <a:avLst/>
              </a:prstGeom>
              <a:noFill/>
            </p:spPr>
            <p:txBody>
              <a:bodyPr wrap="square">
                <a:spAutoFit/>
              </a:bodyPr>
              <a:lstStyle/>
              <a:p>
                <a:r>
                  <a:rPr lang="en-US" altLang="ja-JP" sz="3600" b="0" i="0" dirty="0">
                    <a:effectLst/>
                    <a:latin typeface="Arial" panose="020B0604020202020204" pitchFamily="34" charset="0"/>
                  </a:rPr>
                  <a:t>Review :</a:t>
                </a:r>
              </a:p>
            </p:txBody>
          </p:sp>
          <p:sp>
            <p:nvSpPr>
              <p:cNvPr id="4" name="テキスト ボックス 3">
                <a:extLst>
                  <a:ext uri="{FF2B5EF4-FFF2-40B4-BE49-F238E27FC236}">
                    <a16:creationId xmlns:a16="http://schemas.microsoft.com/office/drawing/2014/main" id="{73889AA6-59FC-A7ED-8E42-627E122342D7}"/>
                  </a:ext>
                </a:extLst>
              </p:cNvPr>
              <p:cNvSpPr txBox="1"/>
              <p:nvPr/>
            </p:nvSpPr>
            <p:spPr>
              <a:xfrm>
                <a:off x="2020956" y="3177549"/>
                <a:ext cx="8150087" cy="400110"/>
              </a:xfrm>
              <a:prstGeom prst="rect">
                <a:avLst/>
              </a:prstGeom>
              <a:noFill/>
            </p:spPr>
            <p:txBody>
              <a:bodyPr wrap="square">
                <a:spAutoFit/>
              </a:bodyPr>
              <a:lstStyle/>
              <a:p>
                <a:pPr algn="ctr"/>
                <a:r>
                  <a:rPr lang="ja-JP" altLang="en-US" sz="2000" dirty="0"/>
                  <a:t>（強化学習を用いた三相系統連系インバータ用制御器の設計）</a:t>
                </a:r>
              </a:p>
            </p:txBody>
          </p:sp>
        </p:grpSp>
      </p:grpSp>
    </p:spTree>
    <p:extLst>
      <p:ext uri="{BB962C8B-B14F-4D97-AF65-F5344CB8AC3E}">
        <p14:creationId xmlns:p14="http://schemas.microsoft.com/office/powerpoint/2010/main" val="2501762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4D0C6F6-6526-DE13-4154-7A945DCFC948}"/>
              </a:ext>
            </a:extLst>
          </p:cNvPr>
          <p:cNvSpPr>
            <a:spLocks noGrp="1"/>
          </p:cNvSpPr>
          <p:nvPr>
            <p:ph type="title"/>
          </p:nvPr>
        </p:nvSpPr>
        <p:spPr/>
        <p:txBody>
          <a:bodyPr/>
          <a:lstStyle/>
          <a:p>
            <a:r>
              <a:rPr kumimoji="1" lang="en-US" altLang="ja-JP" dirty="0"/>
              <a:t>1. </a:t>
            </a:r>
            <a:r>
              <a:rPr kumimoji="1" lang="ja-JP" altLang="en-US" dirty="0"/>
              <a:t>研究概要</a:t>
            </a:r>
          </a:p>
        </p:txBody>
      </p:sp>
      <p:sp>
        <p:nvSpPr>
          <p:cNvPr id="3" name="コンテンツ プレースホルダー 2">
            <a:extLst>
              <a:ext uri="{FF2B5EF4-FFF2-40B4-BE49-F238E27FC236}">
                <a16:creationId xmlns:a16="http://schemas.microsoft.com/office/drawing/2014/main" id="{AA3580BB-C6AC-F18F-D49E-2630BEA1FB0F}"/>
              </a:ext>
            </a:extLst>
          </p:cNvPr>
          <p:cNvSpPr>
            <a:spLocks noGrp="1"/>
          </p:cNvSpPr>
          <p:nvPr>
            <p:ph idx="1"/>
          </p:nvPr>
        </p:nvSpPr>
        <p:spPr/>
        <p:txBody>
          <a:bodyPr>
            <a:normAutofit/>
          </a:bodyPr>
          <a:lstStyle/>
          <a:p>
            <a:pPr>
              <a:buFont typeface="Wingdings" panose="05000000000000000000" pitchFamily="2" charset="2"/>
              <a:buChar char="n"/>
            </a:pPr>
            <a:r>
              <a:rPr kumimoji="1" lang="ja-JP" altLang="en-US" b="1" dirty="0"/>
              <a:t>研究内容</a:t>
            </a:r>
            <a:endParaRPr kumimoji="1" lang="en-US" altLang="ja-JP" b="1" dirty="0"/>
          </a:p>
          <a:p>
            <a:pPr marL="0" indent="0">
              <a:buNone/>
            </a:pPr>
            <a:r>
              <a:rPr kumimoji="1" lang="ja-JP" altLang="en-US" dirty="0"/>
              <a:t>電圧形インバータ</a:t>
            </a:r>
            <a:r>
              <a:rPr kumimoji="1" lang="en-US" altLang="ja-JP" dirty="0"/>
              <a:t>(VSI)</a:t>
            </a:r>
            <a:r>
              <a:rPr lang="ja-JP" altLang="en-US" dirty="0"/>
              <a:t>向けの、より高性能な新しい制御器設計の提案</a:t>
            </a:r>
            <a:endParaRPr lang="en-US" altLang="ja-JP" dirty="0"/>
          </a:p>
          <a:p>
            <a:pPr marL="0" indent="0">
              <a:buNone/>
            </a:pPr>
            <a:endParaRPr kumimoji="1" lang="en-US" altLang="ja-JP" sz="900" dirty="0">
              <a:solidFill>
                <a:srgbClr val="C00000"/>
              </a:solidFill>
            </a:endParaRPr>
          </a:p>
          <a:p>
            <a:pPr>
              <a:buFont typeface="Wingdings" panose="05000000000000000000" pitchFamily="2" charset="2"/>
              <a:buChar char="n"/>
            </a:pPr>
            <a:r>
              <a:rPr lang="ja-JP" altLang="en-US" b="1" dirty="0"/>
              <a:t>従来制御の課題</a:t>
            </a:r>
            <a:endParaRPr lang="en-US" altLang="ja-JP" b="1" dirty="0"/>
          </a:p>
          <a:p>
            <a:pPr marL="0" indent="0">
              <a:buNone/>
            </a:pPr>
            <a:r>
              <a:rPr lang="ja-JP" altLang="en-US" dirty="0"/>
              <a:t>従来の</a:t>
            </a:r>
            <a:r>
              <a:rPr lang="en-US" altLang="ja-JP" dirty="0"/>
              <a:t>PI</a:t>
            </a:r>
            <a:r>
              <a:rPr lang="ja-JP" altLang="en-US" dirty="0"/>
              <a:t>制御、</a:t>
            </a:r>
            <a:r>
              <a:rPr lang="en-US" altLang="ja-JP" dirty="0"/>
              <a:t>PR</a:t>
            </a:r>
            <a:r>
              <a:rPr lang="ja-JP" altLang="en-US" dirty="0"/>
              <a:t>制御、</a:t>
            </a:r>
            <a:r>
              <a:rPr lang="en-US" altLang="ja-JP" dirty="0"/>
              <a:t>DB</a:t>
            </a:r>
            <a:r>
              <a:rPr lang="ja-JP" altLang="en-US" dirty="0"/>
              <a:t>制御、</a:t>
            </a:r>
            <a:r>
              <a:rPr lang="en-US" altLang="ja-JP" dirty="0"/>
              <a:t>MPC</a:t>
            </a:r>
            <a:r>
              <a:rPr lang="ja-JP" altLang="en-US" dirty="0"/>
              <a:t>などには構造的な限界があった</a:t>
            </a:r>
            <a:endParaRPr lang="en-US" altLang="ja-JP" dirty="0"/>
          </a:p>
          <a:p>
            <a:r>
              <a:rPr lang="ja-JP" altLang="en-US" dirty="0">
                <a:solidFill>
                  <a:schemeClr val="tx2">
                    <a:lumMod val="75000"/>
                    <a:lumOff val="25000"/>
                  </a:schemeClr>
                </a:solidFill>
              </a:rPr>
              <a:t>モデルへの強依存 → 環境変動や経年劣化などでシステム条件が変わると、固定された制御ゲインでは対応しきれずに性能低下</a:t>
            </a:r>
            <a:endParaRPr lang="en-US" altLang="ja-JP" dirty="0">
              <a:solidFill>
                <a:schemeClr val="tx2">
                  <a:lumMod val="75000"/>
                  <a:lumOff val="25000"/>
                </a:schemeClr>
              </a:solidFill>
            </a:endParaRPr>
          </a:p>
          <a:p>
            <a:r>
              <a:rPr lang="ja-JP" altLang="en-US" dirty="0">
                <a:solidFill>
                  <a:schemeClr val="tx2">
                    <a:lumMod val="75000"/>
                    <a:lumOff val="25000"/>
                  </a:schemeClr>
                </a:solidFill>
              </a:rPr>
              <a:t>動的性能と定常性能のトレードオフ → 応答を早くしようとすると、オーバーシュートが発生</a:t>
            </a:r>
            <a:endParaRPr lang="en-US" altLang="ja-JP" dirty="0">
              <a:solidFill>
                <a:schemeClr val="tx2">
                  <a:lumMod val="75000"/>
                  <a:lumOff val="25000"/>
                </a:schemeClr>
              </a:solidFill>
            </a:endParaRPr>
          </a:p>
          <a:p>
            <a:r>
              <a:rPr lang="ja-JP" altLang="en-US" dirty="0">
                <a:solidFill>
                  <a:schemeClr val="tx2">
                    <a:lumMod val="75000"/>
                    <a:lumOff val="25000"/>
                  </a:schemeClr>
                </a:solidFill>
              </a:rPr>
              <a:t>調整の複雑さ → 上記トレードオフの中で、最適な制御器ゲインの調整作業が複雑かつ困難</a:t>
            </a:r>
            <a:endParaRPr lang="en-US" altLang="ja-JP" dirty="0">
              <a:solidFill>
                <a:schemeClr val="tx2">
                  <a:lumMod val="75000"/>
                  <a:lumOff val="25000"/>
                </a:schemeClr>
              </a:solidFill>
            </a:endParaRPr>
          </a:p>
          <a:p>
            <a:pPr marL="0" indent="0">
              <a:buNone/>
            </a:pPr>
            <a:endParaRPr lang="en-US" altLang="ja-JP" sz="1000" dirty="0">
              <a:solidFill>
                <a:schemeClr val="tx2">
                  <a:lumMod val="75000"/>
                  <a:lumOff val="25000"/>
                </a:schemeClr>
              </a:solidFill>
            </a:endParaRPr>
          </a:p>
          <a:p>
            <a:pPr>
              <a:buFont typeface="Wingdings" panose="05000000000000000000" pitchFamily="2" charset="2"/>
              <a:buChar char="n"/>
            </a:pPr>
            <a:r>
              <a:rPr lang="ja-JP" altLang="en-US" b="1" dirty="0"/>
              <a:t>論文の解決アプローチとその結果</a:t>
            </a:r>
            <a:endParaRPr lang="en-US" altLang="ja-JP" b="1" dirty="0"/>
          </a:p>
          <a:p>
            <a:pPr marL="0" indent="0">
              <a:buNone/>
            </a:pPr>
            <a:r>
              <a:rPr lang="en-US" altLang="ja-JP" dirty="0"/>
              <a:t>RL-DDPG</a:t>
            </a:r>
            <a:r>
              <a:rPr lang="ja-JP" altLang="en-US" dirty="0"/>
              <a:t>による強化学習制御を利用し、従来制御より良い制御をすることができた</a:t>
            </a:r>
            <a:endParaRPr lang="en-US" altLang="ja-JP" dirty="0"/>
          </a:p>
          <a:p>
            <a:pPr>
              <a:buFont typeface="Wingdings" panose="05000000000000000000" pitchFamily="2" charset="2"/>
              <a:buChar char="Ø"/>
            </a:pPr>
            <a:r>
              <a:rPr lang="ja-JP" altLang="en-US" dirty="0">
                <a:solidFill>
                  <a:srgbClr val="C00000"/>
                </a:solidFill>
              </a:rPr>
              <a:t>全高調波歪</a:t>
            </a:r>
            <a:r>
              <a:rPr lang="en-US" altLang="ja-JP" dirty="0">
                <a:solidFill>
                  <a:srgbClr val="C00000"/>
                </a:solidFill>
              </a:rPr>
              <a:t>(THD)</a:t>
            </a:r>
            <a:r>
              <a:rPr lang="ja-JP" altLang="en-US" dirty="0">
                <a:solidFill>
                  <a:srgbClr val="C00000"/>
                </a:solidFill>
              </a:rPr>
              <a:t>を約</a:t>
            </a:r>
            <a:r>
              <a:rPr lang="en-US" altLang="ja-JP" dirty="0">
                <a:solidFill>
                  <a:srgbClr val="C00000"/>
                </a:solidFill>
              </a:rPr>
              <a:t>47%</a:t>
            </a:r>
            <a:r>
              <a:rPr lang="ja-JP" altLang="en-US" dirty="0">
                <a:solidFill>
                  <a:srgbClr val="C00000"/>
                </a:solidFill>
              </a:rPr>
              <a:t>低減</a:t>
            </a:r>
            <a:endParaRPr lang="en-US" altLang="ja-JP" dirty="0">
              <a:solidFill>
                <a:srgbClr val="C00000"/>
              </a:solidFill>
            </a:endParaRPr>
          </a:p>
          <a:p>
            <a:pPr>
              <a:buFont typeface="Wingdings" panose="05000000000000000000" pitchFamily="2" charset="2"/>
              <a:buChar char="Ø"/>
            </a:pPr>
            <a:r>
              <a:rPr lang="ja-JP" altLang="en-US" dirty="0">
                <a:solidFill>
                  <a:srgbClr val="C00000"/>
                </a:solidFill>
              </a:rPr>
              <a:t>オーバーシュートを</a:t>
            </a:r>
            <a:r>
              <a:rPr lang="en-US" altLang="ja-JP" dirty="0">
                <a:solidFill>
                  <a:srgbClr val="C00000"/>
                </a:solidFill>
              </a:rPr>
              <a:t>8%</a:t>
            </a:r>
            <a:r>
              <a:rPr lang="ja-JP" altLang="en-US" dirty="0">
                <a:solidFill>
                  <a:srgbClr val="C00000"/>
                </a:solidFill>
              </a:rPr>
              <a:t>に抑える</a:t>
            </a:r>
            <a:endParaRPr lang="en-US" altLang="ja-JP" dirty="0">
              <a:solidFill>
                <a:srgbClr val="C00000"/>
              </a:solidFill>
            </a:endParaRPr>
          </a:p>
        </p:txBody>
      </p:sp>
      <p:sp>
        <p:nvSpPr>
          <p:cNvPr id="4" name="スライド番号プレースホルダー 3">
            <a:extLst>
              <a:ext uri="{FF2B5EF4-FFF2-40B4-BE49-F238E27FC236}">
                <a16:creationId xmlns:a16="http://schemas.microsoft.com/office/drawing/2014/main" id="{7F55D678-B005-B5DC-72A7-19E694865E4C}"/>
              </a:ext>
            </a:extLst>
          </p:cNvPr>
          <p:cNvSpPr>
            <a:spLocks noGrp="1"/>
          </p:cNvSpPr>
          <p:nvPr>
            <p:ph type="sldNum" sz="quarter" idx="12"/>
          </p:nvPr>
        </p:nvSpPr>
        <p:spPr/>
        <p:txBody>
          <a:bodyPr/>
          <a:lstStyle/>
          <a:p>
            <a:fld id="{F60111BC-1026-41FD-925F-FB719F33286F}" type="slidenum">
              <a:rPr kumimoji="1" lang="ja-JP" altLang="en-US" smtClean="0"/>
              <a:t>2</a:t>
            </a:fld>
            <a:endParaRPr kumimoji="1" lang="ja-JP" altLang="en-US"/>
          </a:p>
        </p:txBody>
      </p:sp>
      <p:sp>
        <p:nvSpPr>
          <p:cNvPr id="7" name="コンテンツ プレースホルダー 2">
            <a:extLst>
              <a:ext uri="{FF2B5EF4-FFF2-40B4-BE49-F238E27FC236}">
                <a16:creationId xmlns:a16="http://schemas.microsoft.com/office/drawing/2014/main" id="{BE0C9580-FF63-27D0-48BF-C433FBD0B82E}"/>
              </a:ext>
            </a:extLst>
          </p:cNvPr>
          <p:cNvSpPr txBox="1">
            <a:spLocks/>
          </p:cNvSpPr>
          <p:nvPr/>
        </p:nvSpPr>
        <p:spPr>
          <a:xfrm>
            <a:off x="5025888" y="5528789"/>
            <a:ext cx="4018722" cy="8213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buFont typeface="Wingdings" panose="05000000000000000000" pitchFamily="2" charset="2"/>
              <a:buChar char="Ø"/>
            </a:pPr>
            <a:r>
              <a:rPr lang="ja-JP" altLang="en-US" dirty="0">
                <a:solidFill>
                  <a:srgbClr val="C00000"/>
                </a:solidFill>
              </a:rPr>
              <a:t>定常誤差・リップルを最小化</a:t>
            </a:r>
            <a:endParaRPr lang="en-US" altLang="ja-JP" dirty="0">
              <a:solidFill>
                <a:srgbClr val="C00000"/>
              </a:solidFill>
            </a:endParaRPr>
          </a:p>
          <a:p>
            <a:pPr>
              <a:buFont typeface="Wingdings" panose="05000000000000000000" pitchFamily="2" charset="2"/>
              <a:buChar char="Ø"/>
            </a:pPr>
            <a:r>
              <a:rPr lang="ja-JP" altLang="en-US" dirty="0">
                <a:solidFill>
                  <a:srgbClr val="C00000"/>
                </a:solidFill>
              </a:rPr>
              <a:t>過渡期間の目標値の変動を低減　</a:t>
            </a:r>
            <a:endParaRPr lang="en-US" altLang="ja-JP" dirty="0">
              <a:solidFill>
                <a:srgbClr val="C00000"/>
              </a:solidFill>
            </a:endParaRPr>
          </a:p>
        </p:txBody>
      </p:sp>
    </p:spTree>
    <p:extLst>
      <p:ext uri="{BB962C8B-B14F-4D97-AF65-F5344CB8AC3E}">
        <p14:creationId xmlns:p14="http://schemas.microsoft.com/office/powerpoint/2010/main" val="10374200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78AE773-7C62-AFD7-0499-1DBC61084F80}"/>
              </a:ext>
            </a:extLst>
          </p:cNvPr>
          <p:cNvSpPr>
            <a:spLocks noGrp="1"/>
          </p:cNvSpPr>
          <p:nvPr>
            <p:ph type="title"/>
          </p:nvPr>
        </p:nvSpPr>
        <p:spPr/>
        <p:txBody>
          <a:bodyPr/>
          <a:lstStyle/>
          <a:p>
            <a:r>
              <a:rPr kumimoji="1" lang="en-US" altLang="ja-JP" dirty="0"/>
              <a:t>2. </a:t>
            </a:r>
            <a:r>
              <a:rPr kumimoji="1" lang="ja-JP" altLang="en-US" dirty="0"/>
              <a:t>提案手法内容　①強化学習前の下処理</a:t>
            </a:r>
            <a:r>
              <a:rPr kumimoji="1" lang="en-US" altLang="ja-JP" dirty="0"/>
              <a:t>(d-q</a:t>
            </a:r>
            <a:r>
              <a:rPr kumimoji="1" lang="ja-JP" altLang="en-US" dirty="0"/>
              <a:t>変換</a:t>
            </a:r>
            <a:r>
              <a:rPr kumimoji="1" lang="en-US" altLang="ja-JP" dirty="0"/>
              <a:t>)</a:t>
            </a:r>
            <a:endParaRPr kumimoji="1" lang="ja-JP" altLang="en-US" dirty="0"/>
          </a:p>
        </p:txBody>
      </p:sp>
      <p:sp>
        <p:nvSpPr>
          <p:cNvPr id="3" name="コンテンツ プレースホルダー 2">
            <a:extLst>
              <a:ext uri="{FF2B5EF4-FFF2-40B4-BE49-F238E27FC236}">
                <a16:creationId xmlns:a16="http://schemas.microsoft.com/office/drawing/2014/main" id="{7ABB4394-415B-B35D-F4CC-09BBD3A9CD8C}"/>
              </a:ext>
            </a:extLst>
          </p:cNvPr>
          <p:cNvSpPr>
            <a:spLocks noGrp="1"/>
          </p:cNvSpPr>
          <p:nvPr>
            <p:ph idx="1"/>
          </p:nvPr>
        </p:nvSpPr>
        <p:spPr>
          <a:xfrm>
            <a:off x="6022092" y="1179443"/>
            <a:ext cx="5854658" cy="5362801"/>
          </a:xfrm>
        </p:spPr>
        <p:txBody>
          <a:bodyPr/>
          <a:lstStyle/>
          <a:p>
            <a:pPr marL="0" indent="0">
              <a:buNone/>
            </a:pPr>
            <a:r>
              <a:rPr lang="ja-JP" altLang="en-US" b="1" dirty="0"/>
              <a:t>                 ３相座標系</a:t>
            </a:r>
            <a:r>
              <a:rPr lang="en-US" altLang="ja-JP" b="1" dirty="0"/>
              <a:t>(</a:t>
            </a:r>
            <a:r>
              <a:rPr lang="ja-JP" altLang="en-US" b="1" dirty="0"/>
              <a:t>固定軸</a:t>
            </a:r>
            <a:r>
              <a:rPr lang="en-US" altLang="ja-JP" b="1" dirty="0"/>
              <a:t>)</a:t>
            </a:r>
            <a:br>
              <a:rPr lang="en-US" altLang="ja-JP" dirty="0"/>
            </a:br>
            <a:br>
              <a:rPr lang="en-US" altLang="ja-JP" dirty="0"/>
            </a:br>
            <a:br>
              <a:rPr lang="en-US" altLang="ja-JP" dirty="0"/>
            </a:br>
            <a:br>
              <a:rPr lang="en-US" altLang="ja-JP" dirty="0"/>
            </a:br>
            <a:br>
              <a:rPr lang="en-US" altLang="ja-JP" dirty="0"/>
            </a:br>
            <a:br>
              <a:rPr lang="en-US" altLang="ja-JP" dirty="0"/>
            </a:br>
            <a:br>
              <a:rPr lang="en-US" altLang="ja-JP" dirty="0"/>
            </a:br>
            <a:endParaRPr lang="en-US" altLang="ja-JP" dirty="0"/>
          </a:p>
          <a:p>
            <a:pPr marL="0" indent="0">
              <a:buNone/>
            </a:pPr>
            <a:r>
              <a:rPr lang="ja-JP" altLang="en-US" dirty="0"/>
              <a:t>　　　　　　</a:t>
            </a:r>
            <a:r>
              <a:rPr lang="en-US" altLang="ja-JP" b="1" dirty="0"/>
              <a:t>α-β</a:t>
            </a:r>
            <a:r>
              <a:rPr lang="ja-JP" altLang="en-US" b="1" dirty="0"/>
              <a:t>座標系</a:t>
            </a:r>
            <a:r>
              <a:rPr lang="en-US" altLang="ja-JP" b="1" dirty="0"/>
              <a:t>(</a:t>
            </a:r>
            <a:r>
              <a:rPr lang="ja-JP" altLang="en-US" b="1" dirty="0"/>
              <a:t>固定軸</a:t>
            </a:r>
            <a:r>
              <a:rPr lang="en-US" altLang="ja-JP" b="1" dirty="0"/>
              <a:t>)</a:t>
            </a:r>
            <a:br>
              <a:rPr lang="en-US" altLang="ja-JP" dirty="0"/>
            </a:br>
            <a:endParaRPr lang="en-US" altLang="ja-JP" dirty="0"/>
          </a:p>
          <a:p>
            <a:pPr marL="0" indent="0">
              <a:buNone/>
            </a:pPr>
            <a:endParaRPr lang="en-US" altLang="ja-JP" b="1" dirty="0"/>
          </a:p>
          <a:p>
            <a:pPr marL="0" indent="0">
              <a:buNone/>
            </a:pPr>
            <a:endParaRPr lang="en-US" altLang="ja-JP" b="1" dirty="0"/>
          </a:p>
          <a:p>
            <a:pPr marL="0" indent="0">
              <a:buNone/>
            </a:pPr>
            <a:r>
              <a:rPr lang="ja-JP" altLang="en-US" b="1" dirty="0"/>
              <a:t>　　　　　　</a:t>
            </a:r>
            <a:r>
              <a:rPr lang="en-US" altLang="ja-JP" b="1" dirty="0"/>
              <a:t>d-q</a:t>
            </a:r>
            <a:r>
              <a:rPr lang="ja-JP" altLang="en-US" b="1" dirty="0"/>
              <a:t>座標系</a:t>
            </a:r>
            <a:r>
              <a:rPr lang="en-US" altLang="ja-JP" b="1" dirty="0"/>
              <a:t>(</a:t>
            </a:r>
            <a:r>
              <a:rPr lang="ja-JP" altLang="en-US" b="1" dirty="0"/>
              <a:t>回転軸</a:t>
            </a:r>
            <a:r>
              <a:rPr lang="en-US" altLang="ja-JP" b="1" dirty="0"/>
              <a:t>)</a:t>
            </a:r>
            <a:br>
              <a:rPr lang="en-US" altLang="ja-JP" dirty="0"/>
            </a:br>
            <a:endParaRPr kumimoji="1" lang="en-US" altLang="ja-JP" dirty="0"/>
          </a:p>
        </p:txBody>
      </p:sp>
      <p:sp>
        <p:nvSpPr>
          <p:cNvPr id="4" name="スライド番号プレースホルダー 3">
            <a:extLst>
              <a:ext uri="{FF2B5EF4-FFF2-40B4-BE49-F238E27FC236}">
                <a16:creationId xmlns:a16="http://schemas.microsoft.com/office/drawing/2014/main" id="{45FD83EC-AAF6-3AA7-0B20-F25CCECB0216}"/>
              </a:ext>
            </a:extLst>
          </p:cNvPr>
          <p:cNvSpPr>
            <a:spLocks noGrp="1"/>
          </p:cNvSpPr>
          <p:nvPr>
            <p:ph type="sldNum" sz="quarter" idx="12"/>
          </p:nvPr>
        </p:nvSpPr>
        <p:spPr/>
        <p:txBody>
          <a:bodyPr/>
          <a:lstStyle/>
          <a:p>
            <a:fld id="{F60111BC-1026-41FD-925F-FB719F33286F}" type="slidenum">
              <a:rPr lang="ja-JP" altLang="en-US" smtClean="0"/>
              <a:pPr/>
              <a:t>3</a:t>
            </a:fld>
            <a:endParaRPr lang="ja-JP" altLang="en-US"/>
          </a:p>
        </p:txBody>
      </p:sp>
      <p:pic>
        <p:nvPicPr>
          <p:cNvPr id="151" name="図 150">
            <a:extLst>
              <a:ext uri="{FF2B5EF4-FFF2-40B4-BE49-F238E27FC236}">
                <a16:creationId xmlns:a16="http://schemas.microsoft.com/office/drawing/2014/main" id="{EC775F7F-F03D-BA6E-6E4F-69A5735037F2}"/>
              </a:ext>
            </a:extLst>
          </p:cNvPr>
          <p:cNvPicPr>
            <a:picLocks noChangeAspect="1"/>
          </p:cNvPicPr>
          <p:nvPr/>
        </p:nvPicPr>
        <p:blipFill>
          <a:blip r:embed="rId2"/>
          <a:stretch>
            <a:fillRect/>
          </a:stretch>
        </p:blipFill>
        <p:spPr>
          <a:xfrm>
            <a:off x="6022091" y="1588156"/>
            <a:ext cx="5755177" cy="1246294"/>
          </a:xfrm>
          <a:prstGeom prst="rect">
            <a:avLst/>
          </a:prstGeom>
        </p:spPr>
      </p:pic>
      <p:pic>
        <p:nvPicPr>
          <p:cNvPr id="153" name="図 152">
            <a:extLst>
              <a:ext uri="{FF2B5EF4-FFF2-40B4-BE49-F238E27FC236}">
                <a16:creationId xmlns:a16="http://schemas.microsoft.com/office/drawing/2014/main" id="{A376B365-42F4-8326-9DC5-5C16D834E4E4}"/>
              </a:ext>
            </a:extLst>
          </p:cNvPr>
          <p:cNvPicPr>
            <a:picLocks noChangeAspect="1"/>
          </p:cNvPicPr>
          <p:nvPr/>
        </p:nvPicPr>
        <p:blipFill>
          <a:blip r:embed="rId3"/>
          <a:stretch>
            <a:fillRect/>
          </a:stretch>
        </p:blipFill>
        <p:spPr>
          <a:xfrm>
            <a:off x="6306868" y="3868071"/>
            <a:ext cx="5196733" cy="577414"/>
          </a:xfrm>
          <a:prstGeom prst="rect">
            <a:avLst/>
          </a:prstGeom>
        </p:spPr>
      </p:pic>
      <p:sp>
        <p:nvSpPr>
          <p:cNvPr id="154" name="二等辺三角形 153">
            <a:extLst>
              <a:ext uri="{FF2B5EF4-FFF2-40B4-BE49-F238E27FC236}">
                <a16:creationId xmlns:a16="http://schemas.microsoft.com/office/drawing/2014/main" id="{503A83AE-173B-14BD-3683-466C0B61AB9B}"/>
              </a:ext>
            </a:extLst>
          </p:cNvPr>
          <p:cNvSpPr/>
          <p:nvPr/>
        </p:nvSpPr>
        <p:spPr>
          <a:xfrm rot="10800000">
            <a:off x="8544161" y="3092862"/>
            <a:ext cx="472808" cy="218661"/>
          </a:xfrm>
          <a:prstGeom prst="triangl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pic>
        <p:nvPicPr>
          <p:cNvPr id="157" name="図 156">
            <a:extLst>
              <a:ext uri="{FF2B5EF4-FFF2-40B4-BE49-F238E27FC236}">
                <a16:creationId xmlns:a16="http://schemas.microsoft.com/office/drawing/2014/main" id="{8FB61E5F-81A0-82CB-C385-92F996EBAE2B}"/>
              </a:ext>
            </a:extLst>
          </p:cNvPr>
          <p:cNvPicPr>
            <a:picLocks noChangeAspect="1"/>
          </p:cNvPicPr>
          <p:nvPr/>
        </p:nvPicPr>
        <p:blipFill>
          <a:blip r:embed="rId4"/>
          <a:stretch>
            <a:fillRect/>
          </a:stretch>
        </p:blipFill>
        <p:spPr>
          <a:xfrm>
            <a:off x="6374209" y="5407800"/>
            <a:ext cx="5129392" cy="492712"/>
          </a:xfrm>
          <a:prstGeom prst="rect">
            <a:avLst/>
          </a:prstGeom>
        </p:spPr>
      </p:pic>
      <p:pic>
        <p:nvPicPr>
          <p:cNvPr id="158" name="図 157">
            <a:extLst>
              <a:ext uri="{FF2B5EF4-FFF2-40B4-BE49-F238E27FC236}">
                <a16:creationId xmlns:a16="http://schemas.microsoft.com/office/drawing/2014/main" id="{3E9D912E-6278-7407-C7EE-9C43A2CE198B}"/>
              </a:ext>
            </a:extLst>
          </p:cNvPr>
          <p:cNvPicPr>
            <a:picLocks noChangeAspect="1"/>
          </p:cNvPicPr>
          <p:nvPr/>
        </p:nvPicPr>
        <p:blipFill>
          <a:blip r:embed="rId5"/>
          <a:stretch>
            <a:fillRect/>
          </a:stretch>
        </p:blipFill>
        <p:spPr>
          <a:xfrm>
            <a:off x="6395316" y="5914775"/>
            <a:ext cx="5034033" cy="431488"/>
          </a:xfrm>
          <a:prstGeom prst="rect">
            <a:avLst/>
          </a:prstGeom>
        </p:spPr>
      </p:pic>
      <p:sp>
        <p:nvSpPr>
          <p:cNvPr id="159" name="二等辺三角形 158">
            <a:extLst>
              <a:ext uri="{FF2B5EF4-FFF2-40B4-BE49-F238E27FC236}">
                <a16:creationId xmlns:a16="http://schemas.microsoft.com/office/drawing/2014/main" id="{5DAB407A-32FA-91AF-16A5-3E33684EF5DF}"/>
              </a:ext>
            </a:extLst>
          </p:cNvPr>
          <p:cNvSpPr/>
          <p:nvPr/>
        </p:nvSpPr>
        <p:spPr>
          <a:xfrm rot="10800000">
            <a:off x="8540349" y="4596765"/>
            <a:ext cx="472808" cy="218661"/>
          </a:xfrm>
          <a:prstGeom prst="triangl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grpSp>
        <p:nvGrpSpPr>
          <p:cNvPr id="8" name="グループ化 7">
            <a:extLst>
              <a:ext uri="{FF2B5EF4-FFF2-40B4-BE49-F238E27FC236}">
                <a16:creationId xmlns:a16="http://schemas.microsoft.com/office/drawing/2014/main" id="{1113E127-EDE3-EA6B-FB17-0EC7DFFE10F8}"/>
              </a:ext>
            </a:extLst>
          </p:cNvPr>
          <p:cNvGrpSpPr/>
          <p:nvPr/>
        </p:nvGrpSpPr>
        <p:grpSpPr>
          <a:xfrm>
            <a:off x="442921" y="1043942"/>
            <a:ext cx="5241459" cy="5614903"/>
            <a:chOff x="6494508" y="986639"/>
            <a:chExt cx="5241459" cy="5614903"/>
          </a:xfrm>
        </p:grpSpPr>
        <p:pic>
          <p:nvPicPr>
            <p:cNvPr id="6" name="図 5">
              <a:extLst>
                <a:ext uri="{FF2B5EF4-FFF2-40B4-BE49-F238E27FC236}">
                  <a16:creationId xmlns:a16="http://schemas.microsoft.com/office/drawing/2014/main" id="{9FD37F27-14A0-514E-DB8F-4F7A181177D2}"/>
                </a:ext>
              </a:extLst>
            </p:cNvPr>
            <p:cNvPicPr>
              <a:picLocks noChangeAspect="1"/>
            </p:cNvPicPr>
            <p:nvPr/>
          </p:nvPicPr>
          <p:blipFill>
            <a:blip r:embed="rId6"/>
            <a:stretch>
              <a:fillRect/>
            </a:stretch>
          </p:blipFill>
          <p:spPr>
            <a:xfrm>
              <a:off x="6494509" y="2383738"/>
              <a:ext cx="5241458" cy="4217804"/>
            </a:xfrm>
            <a:prstGeom prst="rect">
              <a:avLst/>
            </a:prstGeom>
          </p:spPr>
        </p:pic>
        <p:sp>
          <p:nvSpPr>
            <p:cNvPr id="7" name="正方形/長方形 6">
              <a:extLst>
                <a:ext uri="{FF2B5EF4-FFF2-40B4-BE49-F238E27FC236}">
                  <a16:creationId xmlns:a16="http://schemas.microsoft.com/office/drawing/2014/main" id="{9163D840-E2DA-9567-C792-43667108783A}"/>
                </a:ext>
              </a:extLst>
            </p:cNvPr>
            <p:cNvSpPr/>
            <p:nvPr/>
          </p:nvSpPr>
          <p:spPr>
            <a:xfrm>
              <a:off x="9616104" y="4032887"/>
              <a:ext cx="2119863" cy="743443"/>
            </a:xfrm>
            <a:prstGeom prst="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0" name="コンテンツ プレースホルダー 2">
              <a:extLst>
                <a:ext uri="{FF2B5EF4-FFF2-40B4-BE49-F238E27FC236}">
                  <a16:creationId xmlns:a16="http://schemas.microsoft.com/office/drawing/2014/main" id="{F8A82D8B-C225-060E-D8AB-0178C51F3B36}"/>
                </a:ext>
              </a:extLst>
            </p:cNvPr>
            <p:cNvSpPr txBox="1">
              <a:spLocks/>
            </p:cNvSpPr>
            <p:nvPr/>
          </p:nvSpPr>
          <p:spPr>
            <a:xfrm>
              <a:off x="6494508" y="986639"/>
              <a:ext cx="5241459" cy="124293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buFont typeface="Wingdings" panose="05000000000000000000" pitchFamily="2" charset="2"/>
                <a:buChar char="n"/>
              </a:pPr>
              <a:r>
                <a:rPr lang="en-US" altLang="ja-JP" b="1" dirty="0"/>
                <a:t>d-q</a:t>
              </a:r>
              <a:r>
                <a:rPr lang="ja-JP" altLang="en-US" b="1" dirty="0"/>
                <a:t>変換の目的</a:t>
              </a:r>
              <a:endParaRPr lang="en-US" altLang="ja-JP" b="1" dirty="0"/>
            </a:p>
            <a:p>
              <a:pPr marL="0" indent="0">
                <a:buNone/>
              </a:pPr>
              <a:r>
                <a:rPr lang="ja-JP" altLang="en-US" dirty="0"/>
                <a:t>強化学習に使うパラメータ数を削減し、</a:t>
              </a:r>
              <a:endParaRPr lang="en-US" altLang="ja-JP" dirty="0"/>
            </a:p>
            <a:p>
              <a:pPr marL="0" indent="0">
                <a:buNone/>
              </a:pPr>
              <a:r>
                <a:rPr lang="ja-JP" altLang="en-US" dirty="0"/>
                <a:t>制御計算をより簡素にする</a:t>
              </a:r>
              <a:endParaRPr lang="en-US" altLang="ja-JP" dirty="0"/>
            </a:p>
          </p:txBody>
        </p:sp>
      </p:grpSp>
    </p:spTree>
    <p:extLst>
      <p:ext uri="{BB962C8B-B14F-4D97-AF65-F5344CB8AC3E}">
        <p14:creationId xmlns:p14="http://schemas.microsoft.com/office/powerpoint/2010/main" val="37720370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CA10C5F-E141-6B18-BFC7-CBB594544690}"/>
              </a:ext>
            </a:extLst>
          </p:cNvPr>
          <p:cNvSpPr>
            <a:spLocks noGrp="1"/>
          </p:cNvSpPr>
          <p:nvPr>
            <p:ph type="title"/>
          </p:nvPr>
        </p:nvSpPr>
        <p:spPr/>
        <p:txBody>
          <a:bodyPr/>
          <a:lstStyle/>
          <a:p>
            <a:r>
              <a:rPr lang="en-US" altLang="ja-JP" dirty="0"/>
              <a:t>2. </a:t>
            </a:r>
            <a:r>
              <a:rPr lang="ja-JP" altLang="en-US" dirty="0"/>
              <a:t>提案手法内容　①強化学習前の下処理</a:t>
            </a:r>
            <a:r>
              <a:rPr lang="en-US" altLang="ja-JP" dirty="0"/>
              <a:t>(</a:t>
            </a:r>
            <a:r>
              <a:rPr lang="ja-JP" altLang="en-US" dirty="0"/>
              <a:t>小信号モデル</a:t>
            </a:r>
            <a:r>
              <a:rPr lang="en-US" altLang="ja-JP" dirty="0"/>
              <a:t>)</a:t>
            </a:r>
            <a:endParaRPr kumimoji="1" lang="ja-JP" altLang="en-US" dirty="0"/>
          </a:p>
        </p:txBody>
      </p:sp>
      <p:sp>
        <p:nvSpPr>
          <p:cNvPr id="3" name="コンテンツ プレースホルダー 2">
            <a:extLst>
              <a:ext uri="{FF2B5EF4-FFF2-40B4-BE49-F238E27FC236}">
                <a16:creationId xmlns:a16="http://schemas.microsoft.com/office/drawing/2014/main" id="{3039AC6C-F9E7-3170-A454-446235AB2810}"/>
              </a:ext>
            </a:extLst>
          </p:cNvPr>
          <p:cNvSpPr>
            <a:spLocks noGrp="1"/>
          </p:cNvSpPr>
          <p:nvPr>
            <p:ph idx="1"/>
          </p:nvPr>
        </p:nvSpPr>
        <p:spPr>
          <a:xfrm>
            <a:off x="217640" y="1114816"/>
            <a:ext cx="5512600" cy="5235272"/>
          </a:xfrm>
        </p:spPr>
        <p:txBody>
          <a:bodyPr/>
          <a:lstStyle/>
          <a:p>
            <a:pPr>
              <a:buFont typeface="Wingdings" panose="05000000000000000000" pitchFamily="2" charset="2"/>
              <a:buChar char="n"/>
            </a:pPr>
            <a:r>
              <a:rPr kumimoji="1" lang="ja-JP" altLang="en-US" b="1" dirty="0"/>
              <a:t>小信号モデルとは</a:t>
            </a:r>
            <a:endParaRPr kumimoji="1" lang="en-US" altLang="ja-JP" b="1" dirty="0"/>
          </a:p>
          <a:p>
            <a:pPr marL="0" indent="0">
              <a:buNone/>
            </a:pPr>
            <a:r>
              <a:rPr kumimoji="1" lang="en-US" altLang="ja-JP" dirty="0"/>
              <a:t>d-q</a:t>
            </a:r>
            <a:r>
              <a:rPr kumimoji="1" lang="ja-JP" altLang="en-US" dirty="0"/>
              <a:t>変換で得られた数式に含まれる非線形要素を除去し、</a:t>
            </a:r>
            <a:r>
              <a:rPr kumimoji="1" lang="ja-JP" altLang="en-US" dirty="0">
                <a:solidFill>
                  <a:srgbClr val="C00000"/>
                </a:solidFill>
              </a:rPr>
              <a:t>線形モデルへ変換</a:t>
            </a:r>
            <a:r>
              <a:rPr kumimoji="1" lang="ja-JP" altLang="en-US" dirty="0"/>
              <a:t>すること</a:t>
            </a:r>
            <a:endParaRPr kumimoji="1" lang="en-US" altLang="ja-JP" dirty="0"/>
          </a:p>
          <a:p>
            <a:pPr marL="0" indent="0">
              <a:buNone/>
            </a:pPr>
            <a:endParaRPr kumimoji="1" lang="en-US" altLang="ja-JP" dirty="0"/>
          </a:p>
          <a:p>
            <a:pPr marL="0" indent="0">
              <a:buNone/>
            </a:pPr>
            <a:r>
              <a:rPr kumimoji="1" lang="en-US" altLang="ja-JP" dirty="0"/>
              <a:t>(</a:t>
            </a:r>
            <a:r>
              <a:rPr kumimoji="1" lang="ja-JP" altLang="en-US" dirty="0"/>
              <a:t>例</a:t>
            </a:r>
            <a:r>
              <a:rPr kumimoji="1" lang="en-US" altLang="ja-JP" dirty="0"/>
              <a:t>)</a:t>
            </a:r>
            <a:r>
              <a:rPr lang="ja-JP" altLang="en-US" dirty="0"/>
              <a:t>一定値と微変動値に分けた変数</a:t>
            </a:r>
            <a:endParaRPr lang="en-US" altLang="ja-JP" dirty="0"/>
          </a:p>
          <a:p>
            <a:pPr marL="0" indent="0">
              <a:buNone/>
            </a:pPr>
            <a:r>
              <a:rPr lang="ja-JP" altLang="en-US" dirty="0"/>
              <a:t>　　　　　　　　と　　　　　　　　　</a:t>
            </a:r>
            <a:endParaRPr lang="en-US" altLang="ja-JP" dirty="0"/>
          </a:p>
          <a:p>
            <a:pPr marL="0" indent="0">
              <a:buNone/>
            </a:pPr>
            <a:r>
              <a:rPr lang="ja-JP" altLang="en-US" dirty="0"/>
              <a:t>を掛け合わせて線形項を抽出</a:t>
            </a:r>
            <a:endParaRPr kumimoji="1" lang="en-US" altLang="ja-JP" dirty="0"/>
          </a:p>
          <a:p>
            <a:pPr marL="0" indent="0">
              <a:buNone/>
            </a:pPr>
            <a:endParaRPr lang="en-US" altLang="ja-JP" dirty="0"/>
          </a:p>
          <a:p>
            <a:pPr marL="0" indent="0">
              <a:buNone/>
            </a:pPr>
            <a:endParaRPr lang="en-US" altLang="ja-JP" dirty="0"/>
          </a:p>
          <a:p>
            <a:pPr marL="0" indent="0">
              <a:buNone/>
            </a:pPr>
            <a:endParaRPr lang="en-US" altLang="ja-JP" dirty="0"/>
          </a:p>
          <a:p>
            <a:pPr marL="0" indent="0">
              <a:buNone/>
            </a:pPr>
            <a:endParaRPr lang="en-US" altLang="ja-JP" dirty="0"/>
          </a:p>
          <a:p>
            <a:pPr marL="0" indent="0">
              <a:buNone/>
            </a:pPr>
            <a:endParaRPr lang="en-US" altLang="ja-JP" dirty="0"/>
          </a:p>
          <a:p>
            <a:pPr marL="0" indent="0">
              <a:buNone/>
            </a:pPr>
            <a:endParaRPr lang="en-US" altLang="ja-JP" dirty="0"/>
          </a:p>
        </p:txBody>
      </p:sp>
      <p:sp>
        <p:nvSpPr>
          <p:cNvPr id="4" name="スライド番号プレースホルダー 3">
            <a:extLst>
              <a:ext uri="{FF2B5EF4-FFF2-40B4-BE49-F238E27FC236}">
                <a16:creationId xmlns:a16="http://schemas.microsoft.com/office/drawing/2014/main" id="{5DF0C024-858E-0BCB-3F18-62C3DD85CB79}"/>
              </a:ext>
            </a:extLst>
          </p:cNvPr>
          <p:cNvSpPr>
            <a:spLocks noGrp="1"/>
          </p:cNvSpPr>
          <p:nvPr>
            <p:ph type="sldNum" sz="quarter" idx="12"/>
          </p:nvPr>
        </p:nvSpPr>
        <p:spPr/>
        <p:txBody>
          <a:bodyPr/>
          <a:lstStyle/>
          <a:p>
            <a:fld id="{F60111BC-1026-41FD-925F-FB719F33286F}" type="slidenum">
              <a:rPr lang="ja-JP" altLang="en-US" smtClean="0"/>
              <a:pPr/>
              <a:t>4</a:t>
            </a:fld>
            <a:endParaRPr lang="ja-JP" altLang="en-US" dirty="0"/>
          </a:p>
        </p:txBody>
      </p:sp>
      <p:pic>
        <p:nvPicPr>
          <p:cNvPr id="26" name="図 25">
            <a:extLst>
              <a:ext uri="{FF2B5EF4-FFF2-40B4-BE49-F238E27FC236}">
                <a16:creationId xmlns:a16="http://schemas.microsoft.com/office/drawing/2014/main" id="{351216A5-17B4-BE97-0521-03D7BB842364}"/>
              </a:ext>
            </a:extLst>
          </p:cNvPr>
          <p:cNvPicPr>
            <a:picLocks noChangeAspect="1"/>
          </p:cNvPicPr>
          <p:nvPr/>
        </p:nvPicPr>
        <p:blipFill>
          <a:blip r:embed="rId2"/>
          <a:stretch>
            <a:fillRect/>
          </a:stretch>
        </p:blipFill>
        <p:spPr>
          <a:xfrm>
            <a:off x="488815" y="2980871"/>
            <a:ext cx="1688973" cy="364580"/>
          </a:xfrm>
          <a:prstGeom prst="rect">
            <a:avLst/>
          </a:prstGeom>
        </p:spPr>
      </p:pic>
      <p:pic>
        <p:nvPicPr>
          <p:cNvPr id="28" name="図 27">
            <a:extLst>
              <a:ext uri="{FF2B5EF4-FFF2-40B4-BE49-F238E27FC236}">
                <a16:creationId xmlns:a16="http://schemas.microsoft.com/office/drawing/2014/main" id="{782CBA99-A83B-DCC1-CC87-CB746A04D0A0}"/>
              </a:ext>
            </a:extLst>
          </p:cNvPr>
          <p:cNvPicPr>
            <a:picLocks noChangeAspect="1"/>
          </p:cNvPicPr>
          <p:nvPr/>
        </p:nvPicPr>
        <p:blipFill>
          <a:blip r:embed="rId3"/>
          <a:stretch>
            <a:fillRect/>
          </a:stretch>
        </p:blipFill>
        <p:spPr>
          <a:xfrm>
            <a:off x="2784758" y="2980871"/>
            <a:ext cx="2048942" cy="364580"/>
          </a:xfrm>
          <a:prstGeom prst="rect">
            <a:avLst/>
          </a:prstGeom>
        </p:spPr>
      </p:pic>
      <p:grpSp>
        <p:nvGrpSpPr>
          <p:cNvPr id="41" name="グループ化 40">
            <a:extLst>
              <a:ext uri="{FF2B5EF4-FFF2-40B4-BE49-F238E27FC236}">
                <a16:creationId xmlns:a16="http://schemas.microsoft.com/office/drawing/2014/main" id="{3F5C376E-EA01-756C-6D54-4072EAD0959D}"/>
              </a:ext>
            </a:extLst>
          </p:cNvPr>
          <p:cNvGrpSpPr/>
          <p:nvPr/>
        </p:nvGrpSpPr>
        <p:grpSpPr>
          <a:xfrm>
            <a:off x="360335" y="3907366"/>
            <a:ext cx="5129392" cy="1777995"/>
            <a:chOff x="318092" y="2392347"/>
            <a:chExt cx="5129392" cy="1777995"/>
          </a:xfrm>
        </p:grpSpPr>
        <p:grpSp>
          <p:nvGrpSpPr>
            <p:cNvPr id="12" name="グループ化 11">
              <a:extLst>
                <a:ext uri="{FF2B5EF4-FFF2-40B4-BE49-F238E27FC236}">
                  <a16:creationId xmlns:a16="http://schemas.microsoft.com/office/drawing/2014/main" id="{0EB512C6-9178-70E3-D348-817B4FB1D0EC}"/>
                </a:ext>
              </a:extLst>
            </p:cNvPr>
            <p:cNvGrpSpPr/>
            <p:nvPr/>
          </p:nvGrpSpPr>
          <p:grpSpPr>
            <a:xfrm>
              <a:off x="318092" y="2392347"/>
              <a:ext cx="5129392" cy="492712"/>
              <a:chOff x="510121" y="2273661"/>
              <a:chExt cx="5129392" cy="492712"/>
            </a:xfrm>
          </p:grpSpPr>
          <p:pic>
            <p:nvPicPr>
              <p:cNvPr id="7" name="図 6">
                <a:extLst>
                  <a:ext uri="{FF2B5EF4-FFF2-40B4-BE49-F238E27FC236}">
                    <a16:creationId xmlns:a16="http://schemas.microsoft.com/office/drawing/2014/main" id="{BD00C838-EDAA-EF47-2F96-42A0E4BBCD83}"/>
                  </a:ext>
                </a:extLst>
              </p:cNvPr>
              <p:cNvPicPr>
                <a:picLocks noChangeAspect="1"/>
              </p:cNvPicPr>
              <p:nvPr/>
            </p:nvPicPr>
            <p:blipFill>
              <a:blip r:embed="rId4"/>
              <a:stretch>
                <a:fillRect/>
              </a:stretch>
            </p:blipFill>
            <p:spPr>
              <a:xfrm>
                <a:off x="510121" y="2273661"/>
                <a:ext cx="5129392" cy="492712"/>
              </a:xfrm>
              <a:prstGeom prst="rect">
                <a:avLst/>
              </a:prstGeom>
            </p:spPr>
          </p:pic>
          <p:sp>
            <p:nvSpPr>
              <p:cNvPr id="8" name="正方形/長方形 7">
                <a:extLst>
                  <a:ext uri="{FF2B5EF4-FFF2-40B4-BE49-F238E27FC236}">
                    <a16:creationId xmlns:a16="http://schemas.microsoft.com/office/drawing/2014/main" id="{868D0AAD-FF66-A3D8-F63B-D9E58164A984}"/>
                  </a:ext>
                </a:extLst>
              </p:cNvPr>
              <p:cNvSpPr/>
              <p:nvPr/>
            </p:nvSpPr>
            <p:spPr>
              <a:xfrm>
                <a:off x="1424609" y="2305878"/>
                <a:ext cx="695739" cy="381053"/>
              </a:xfrm>
              <a:prstGeom prst="rect">
                <a:avLst/>
              </a:prstGeom>
              <a:noFill/>
              <a:ln>
                <a:solidFill>
                  <a:srgbClr val="C0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cxnSp>
          <p:nvCxnSpPr>
            <p:cNvPr id="22" name="直線矢印コネクタ 21">
              <a:extLst>
                <a:ext uri="{FF2B5EF4-FFF2-40B4-BE49-F238E27FC236}">
                  <a16:creationId xmlns:a16="http://schemas.microsoft.com/office/drawing/2014/main" id="{1F2451C3-3B84-21B0-05C3-C93472FA7181}"/>
                </a:ext>
              </a:extLst>
            </p:cNvPr>
            <p:cNvCxnSpPr>
              <a:stCxn id="8" idx="2"/>
            </p:cNvCxnSpPr>
            <p:nvPr/>
          </p:nvCxnSpPr>
          <p:spPr>
            <a:xfrm flipH="1">
              <a:off x="1580449" y="2805617"/>
              <a:ext cx="1" cy="373845"/>
            </a:xfrm>
            <a:prstGeom prst="straightConnector1">
              <a:avLst/>
            </a:prstGeom>
            <a:ln>
              <a:solidFill>
                <a:srgbClr val="C00000"/>
              </a:solidFill>
              <a:prstDash val="sysDash"/>
              <a:tailEnd type="triangle"/>
            </a:ln>
          </p:spPr>
          <p:style>
            <a:lnRef idx="2">
              <a:schemeClr val="accent1"/>
            </a:lnRef>
            <a:fillRef idx="0">
              <a:schemeClr val="accent1"/>
            </a:fillRef>
            <a:effectRef idx="1">
              <a:schemeClr val="accent1"/>
            </a:effectRef>
            <a:fontRef idx="minor">
              <a:schemeClr val="tx1"/>
            </a:fontRef>
          </p:style>
        </p:cxnSp>
        <p:grpSp>
          <p:nvGrpSpPr>
            <p:cNvPr id="40" name="グループ化 39">
              <a:extLst>
                <a:ext uri="{FF2B5EF4-FFF2-40B4-BE49-F238E27FC236}">
                  <a16:creationId xmlns:a16="http://schemas.microsoft.com/office/drawing/2014/main" id="{E9479AD8-1A0B-6A83-EFDD-83ACF4920F8B}"/>
                </a:ext>
              </a:extLst>
            </p:cNvPr>
            <p:cNvGrpSpPr/>
            <p:nvPr/>
          </p:nvGrpSpPr>
          <p:grpSpPr>
            <a:xfrm>
              <a:off x="318093" y="3072384"/>
              <a:ext cx="4794648" cy="1097958"/>
              <a:chOff x="318093" y="3072384"/>
              <a:chExt cx="4794648" cy="1097958"/>
            </a:xfrm>
          </p:grpSpPr>
          <p:grpSp>
            <p:nvGrpSpPr>
              <p:cNvPr id="13" name="グループ化 12">
                <a:extLst>
                  <a:ext uri="{FF2B5EF4-FFF2-40B4-BE49-F238E27FC236}">
                    <a16:creationId xmlns:a16="http://schemas.microsoft.com/office/drawing/2014/main" id="{CA698F0F-138D-5FD4-17E6-413E8CDE13E9}"/>
                  </a:ext>
                </a:extLst>
              </p:cNvPr>
              <p:cNvGrpSpPr/>
              <p:nvPr/>
            </p:nvGrpSpPr>
            <p:grpSpPr>
              <a:xfrm>
                <a:off x="318093" y="3194836"/>
                <a:ext cx="4637956" cy="426189"/>
                <a:chOff x="656426" y="3343409"/>
                <a:chExt cx="5525271" cy="507726"/>
              </a:xfrm>
            </p:grpSpPr>
            <p:pic>
              <p:nvPicPr>
                <p:cNvPr id="6" name="図 5">
                  <a:extLst>
                    <a:ext uri="{FF2B5EF4-FFF2-40B4-BE49-F238E27FC236}">
                      <a16:creationId xmlns:a16="http://schemas.microsoft.com/office/drawing/2014/main" id="{6F7266EB-CA80-B280-F074-F8F18DAB37F0}"/>
                    </a:ext>
                  </a:extLst>
                </p:cNvPr>
                <p:cNvPicPr>
                  <a:picLocks noChangeAspect="1"/>
                </p:cNvPicPr>
                <p:nvPr/>
              </p:nvPicPr>
              <p:blipFill>
                <a:blip r:embed="rId5"/>
                <a:stretch>
                  <a:fillRect/>
                </a:stretch>
              </p:blipFill>
              <p:spPr>
                <a:xfrm>
                  <a:off x="656426" y="3412302"/>
                  <a:ext cx="5525271" cy="381053"/>
                </a:xfrm>
                <a:prstGeom prst="rect">
                  <a:avLst/>
                </a:prstGeom>
              </p:spPr>
            </p:pic>
            <p:sp>
              <p:nvSpPr>
                <p:cNvPr id="11" name="正方形/長方形 10">
                  <a:extLst>
                    <a:ext uri="{FF2B5EF4-FFF2-40B4-BE49-F238E27FC236}">
                      <a16:creationId xmlns:a16="http://schemas.microsoft.com/office/drawing/2014/main" id="{D2B4BF77-5ED8-B1A6-173D-6F38CB01DEA8}"/>
                    </a:ext>
                  </a:extLst>
                </p:cNvPr>
                <p:cNvSpPr/>
                <p:nvPr/>
              </p:nvSpPr>
              <p:spPr>
                <a:xfrm>
                  <a:off x="656426" y="3343409"/>
                  <a:ext cx="5525271" cy="507726"/>
                </a:xfrm>
                <a:prstGeom prst="rect">
                  <a:avLst/>
                </a:prstGeom>
                <a:noFill/>
                <a:ln>
                  <a:solidFill>
                    <a:srgbClr val="C0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29" name="正方形/長方形 28">
                <a:extLst>
                  <a:ext uri="{FF2B5EF4-FFF2-40B4-BE49-F238E27FC236}">
                    <a16:creationId xmlns:a16="http://schemas.microsoft.com/office/drawing/2014/main" id="{642A45BB-14E3-9B6A-940F-9CACA9002283}"/>
                  </a:ext>
                </a:extLst>
              </p:cNvPr>
              <p:cNvSpPr/>
              <p:nvPr/>
            </p:nvSpPr>
            <p:spPr>
              <a:xfrm>
                <a:off x="3023616" y="3072384"/>
                <a:ext cx="1261871" cy="707136"/>
              </a:xfrm>
              <a:prstGeom prst="rect">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0" name="コンテンツ プレースホルダー 2">
                <a:extLst>
                  <a:ext uri="{FF2B5EF4-FFF2-40B4-BE49-F238E27FC236}">
                    <a16:creationId xmlns:a16="http://schemas.microsoft.com/office/drawing/2014/main" id="{351330B5-66F9-4481-9397-EDD03474444D}"/>
                  </a:ext>
                </a:extLst>
              </p:cNvPr>
              <p:cNvSpPr txBox="1">
                <a:spLocks/>
              </p:cNvSpPr>
              <p:nvPr/>
            </p:nvSpPr>
            <p:spPr>
              <a:xfrm>
                <a:off x="3204680" y="3815429"/>
                <a:ext cx="1007654" cy="354913"/>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Font typeface="Arial" panose="020B0604020202020204" pitchFamily="34" charset="0"/>
                  <a:buNone/>
                </a:pPr>
                <a:r>
                  <a:rPr lang="ja-JP" altLang="en-US" dirty="0">
                    <a:solidFill>
                      <a:srgbClr val="0070C0"/>
                    </a:solidFill>
                  </a:rPr>
                  <a:t>線形項</a:t>
                </a:r>
                <a:endParaRPr lang="en-US" altLang="ja-JP" dirty="0">
                  <a:solidFill>
                    <a:srgbClr val="0070C0"/>
                  </a:solidFill>
                </a:endParaRPr>
              </a:p>
            </p:txBody>
          </p:sp>
          <p:cxnSp>
            <p:nvCxnSpPr>
              <p:cNvPr id="34" name="直線コネクタ 33">
                <a:extLst>
                  <a:ext uri="{FF2B5EF4-FFF2-40B4-BE49-F238E27FC236}">
                    <a16:creationId xmlns:a16="http://schemas.microsoft.com/office/drawing/2014/main" id="{652E7E9C-9929-E2D9-E515-191492EF5856}"/>
                  </a:ext>
                </a:extLst>
              </p:cNvPr>
              <p:cNvCxnSpPr/>
              <p:nvPr/>
            </p:nvCxnSpPr>
            <p:spPr>
              <a:xfrm flipH="1">
                <a:off x="2407920" y="3194836"/>
                <a:ext cx="396240" cy="377688"/>
              </a:xfrm>
              <a:prstGeom prst="line">
                <a:avLst/>
              </a:prstGeom>
            </p:spPr>
            <p:style>
              <a:lnRef idx="2">
                <a:schemeClr val="accent1"/>
              </a:lnRef>
              <a:fillRef idx="0">
                <a:schemeClr val="accent1"/>
              </a:fillRef>
              <a:effectRef idx="1">
                <a:schemeClr val="accent1"/>
              </a:effectRef>
              <a:fontRef idx="minor">
                <a:schemeClr val="tx1"/>
              </a:fontRef>
            </p:style>
          </p:cxnSp>
          <p:cxnSp>
            <p:nvCxnSpPr>
              <p:cNvPr id="37" name="直線コネクタ 36">
                <a:extLst>
                  <a:ext uri="{FF2B5EF4-FFF2-40B4-BE49-F238E27FC236}">
                    <a16:creationId xmlns:a16="http://schemas.microsoft.com/office/drawing/2014/main" id="{E2F3A3B0-D668-4F2D-0966-04EE35CE4287}"/>
                  </a:ext>
                </a:extLst>
              </p:cNvPr>
              <p:cNvCxnSpPr/>
              <p:nvPr/>
            </p:nvCxnSpPr>
            <p:spPr>
              <a:xfrm flipH="1">
                <a:off x="4471417" y="3219086"/>
                <a:ext cx="396240" cy="377688"/>
              </a:xfrm>
              <a:prstGeom prst="line">
                <a:avLst/>
              </a:prstGeom>
            </p:spPr>
            <p:style>
              <a:lnRef idx="2">
                <a:schemeClr val="accent1"/>
              </a:lnRef>
              <a:fillRef idx="0">
                <a:schemeClr val="accent1"/>
              </a:fillRef>
              <a:effectRef idx="1">
                <a:schemeClr val="accent1"/>
              </a:effectRef>
              <a:fontRef idx="minor">
                <a:schemeClr val="tx1"/>
              </a:fontRef>
            </p:style>
          </p:cxnSp>
          <p:sp>
            <p:nvSpPr>
              <p:cNvPr id="38" name="コンテンツ プレースホルダー 2">
                <a:extLst>
                  <a:ext uri="{FF2B5EF4-FFF2-40B4-BE49-F238E27FC236}">
                    <a16:creationId xmlns:a16="http://schemas.microsoft.com/office/drawing/2014/main" id="{855E8B1A-8FBF-A860-E7F7-3F9025989E8B}"/>
                  </a:ext>
                </a:extLst>
              </p:cNvPr>
              <p:cNvSpPr txBox="1">
                <a:spLocks/>
              </p:cNvSpPr>
              <p:nvPr/>
            </p:nvSpPr>
            <p:spPr>
              <a:xfrm>
                <a:off x="2196362" y="3678854"/>
                <a:ext cx="807726" cy="301834"/>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Font typeface="Arial" panose="020B0604020202020204" pitchFamily="34" charset="0"/>
                  <a:buNone/>
                </a:pPr>
                <a:r>
                  <a:rPr lang="ja-JP" altLang="en-US" sz="1600" dirty="0">
                    <a:solidFill>
                      <a:srgbClr val="0070C0"/>
                    </a:solidFill>
                  </a:rPr>
                  <a:t>定常値</a:t>
                </a:r>
                <a:endParaRPr lang="en-US" altLang="ja-JP" sz="1600" dirty="0">
                  <a:solidFill>
                    <a:srgbClr val="0070C0"/>
                  </a:solidFill>
                </a:endParaRPr>
              </a:p>
            </p:txBody>
          </p:sp>
          <p:sp>
            <p:nvSpPr>
              <p:cNvPr id="39" name="コンテンツ プレースホルダー 2">
                <a:extLst>
                  <a:ext uri="{FF2B5EF4-FFF2-40B4-BE49-F238E27FC236}">
                    <a16:creationId xmlns:a16="http://schemas.microsoft.com/office/drawing/2014/main" id="{9B88CCAA-94C4-BE57-52D7-CCFF5F533205}"/>
                  </a:ext>
                </a:extLst>
              </p:cNvPr>
              <p:cNvSpPr txBox="1">
                <a:spLocks/>
              </p:cNvSpPr>
              <p:nvPr/>
            </p:nvSpPr>
            <p:spPr>
              <a:xfrm>
                <a:off x="4305015" y="3660126"/>
                <a:ext cx="807726" cy="301834"/>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Font typeface="Arial" panose="020B0604020202020204" pitchFamily="34" charset="0"/>
                  <a:buNone/>
                </a:pPr>
                <a:r>
                  <a:rPr lang="ja-JP" altLang="en-US" sz="1600" dirty="0">
                    <a:solidFill>
                      <a:srgbClr val="0070C0"/>
                    </a:solidFill>
                  </a:rPr>
                  <a:t>微小項</a:t>
                </a:r>
                <a:endParaRPr lang="en-US" altLang="ja-JP" sz="1600" dirty="0">
                  <a:solidFill>
                    <a:srgbClr val="0070C0"/>
                  </a:solidFill>
                </a:endParaRPr>
              </a:p>
            </p:txBody>
          </p:sp>
        </p:grpSp>
      </p:grpSp>
      <p:sp>
        <p:nvSpPr>
          <p:cNvPr id="44" name="コンテンツ プレースホルダー 2">
            <a:extLst>
              <a:ext uri="{FF2B5EF4-FFF2-40B4-BE49-F238E27FC236}">
                <a16:creationId xmlns:a16="http://schemas.microsoft.com/office/drawing/2014/main" id="{872D55EC-4F10-7BF4-1B93-3FCA14B9E962}"/>
              </a:ext>
            </a:extLst>
          </p:cNvPr>
          <p:cNvSpPr txBox="1">
            <a:spLocks/>
          </p:cNvSpPr>
          <p:nvPr/>
        </p:nvSpPr>
        <p:spPr>
          <a:xfrm>
            <a:off x="6319064" y="1114816"/>
            <a:ext cx="5512600" cy="523527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buFont typeface="Wingdings" panose="05000000000000000000" pitchFamily="2" charset="2"/>
              <a:buChar char="n"/>
            </a:pPr>
            <a:r>
              <a:rPr lang="ja-JP" altLang="en-US" b="1" dirty="0"/>
              <a:t>小信号モデルにより得られる状態方程式</a:t>
            </a:r>
          </a:p>
        </p:txBody>
      </p:sp>
      <p:pic>
        <p:nvPicPr>
          <p:cNvPr id="46" name="図 45">
            <a:extLst>
              <a:ext uri="{FF2B5EF4-FFF2-40B4-BE49-F238E27FC236}">
                <a16:creationId xmlns:a16="http://schemas.microsoft.com/office/drawing/2014/main" id="{201F9049-D32C-5729-1119-F45FE551802F}"/>
              </a:ext>
            </a:extLst>
          </p:cNvPr>
          <p:cNvPicPr>
            <a:picLocks noChangeAspect="1"/>
          </p:cNvPicPr>
          <p:nvPr/>
        </p:nvPicPr>
        <p:blipFill>
          <a:blip r:embed="rId6"/>
          <a:stretch>
            <a:fillRect/>
          </a:stretch>
        </p:blipFill>
        <p:spPr>
          <a:xfrm>
            <a:off x="6699755" y="1439366"/>
            <a:ext cx="4239143" cy="1735640"/>
          </a:xfrm>
          <a:prstGeom prst="rect">
            <a:avLst/>
          </a:prstGeom>
        </p:spPr>
      </p:pic>
      <p:grpSp>
        <p:nvGrpSpPr>
          <p:cNvPr id="82" name="グループ化 81">
            <a:extLst>
              <a:ext uri="{FF2B5EF4-FFF2-40B4-BE49-F238E27FC236}">
                <a16:creationId xmlns:a16="http://schemas.microsoft.com/office/drawing/2014/main" id="{FD4C3D76-D865-9630-502E-016A633920B1}"/>
              </a:ext>
            </a:extLst>
          </p:cNvPr>
          <p:cNvGrpSpPr/>
          <p:nvPr/>
        </p:nvGrpSpPr>
        <p:grpSpPr>
          <a:xfrm>
            <a:off x="4327730" y="1883664"/>
            <a:ext cx="4307857" cy="2703739"/>
            <a:chOff x="4327730" y="1883664"/>
            <a:chExt cx="4307857" cy="2703739"/>
          </a:xfrm>
        </p:grpSpPr>
        <p:cxnSp>
          <p:nvCxnSpPr>
            <p:cNvPr id="59" name="直線コネクタ 58">
              <a:extLst>
                <a:ext uri="{FF2B5EF4-FFF2-40B4-BE49-F238E27FC236}">
                  <a16:creationId xmlns:a16="http://schemas.microsoft.com/office/drawing/2014/main" id="{5F1D0151-0463-1BB3-7940-6EC8CA3C0F04}"/>
                </a:ext>
              </a:extLst>
            </p:cNvPr>
            <p:cNvCxnSpPr/>
            <p:nvPr/>
          </p:nvCxnSpPr>
          <p:spPr>
            <a:xfrm>
              <a:off x="7495635" y="1883664"/>
              <a:ext cx="1139952" cy="0"/>
            </a:xfrm>
            <a:prstGeom prst="line">
              <a:avLst/>
            </a:prstGeom>
            <a:ln>
              <a:solidFill>
                <a:schemeClr val="tx2">
                  <a:lumMod val="25000"/>
                  <a:lumOff val="75000"/>
                </a:schemeClr>
              </a:solidFill>
            </a:ln>
          </p:spPr>
          <p:style>
            <a:lnRef idx="2">
              <a:schemeClr val="accent1"/>
            </a:lnRef>
            <a:fillRef idx="0">
              <a:schemeClr val="accent1"/>
            </a:fillRef>
            <a:effectRef idx="1">
              <a:schemeClr val="accent1"/>
            </a:effectRef>
            <a:fontRef idx="minor">
              <a:schemeClr val="tx1"/>
            </a:fontRef>
          </p:style>
        </p:cxnSp>
        <p:grpSp>
          <p:nvGrpSpPr>
            <p:cNvPr id="81" name="グループ化 80">
              <a:extLst>
                <a:ext uri="{FF2B5EF4-FFF2-40B4-BE49-F238E27FC236}">
                  <a16:creationId xmlns:a16="http://schemas.microsoft.com/office/drawing/2014/main" id="{F946361F-F766-17D2-33FA-55FC016AD3D9}"/>
                </a:ext>
              </a:extLst>
            </p:cNvPr>
            <p:cNvGrpSpPr/>
            <p:nvPr/>
          </p:nvGrpSpPr>
          <p:grpSpPr>
            <a:xfrm>
              <a:off x="4327730" y="1883664"/>
              <a:ext cx="3282745" cy="2703739"/>
              <a:chOff x="4327730" y="1883664"/>
              <a:chExt cx="3282745" cy="2703739"/>
            </a:xfrm>
          </p:grpSpPr>
          <p:cxnSp>
            <p:nvCxnSpPr>
              <p:cNvPr id="67" name="直線コネクタ 66">
                <a:extLst>
                  <a:ext uri="{FF2B5EF4-FFF2-40B4-BE49-F238E27FC236}">
                    <a16:creationId xmlns:a16="http://schemas.microsoft.com/office/drawing/2014/main" id="{92F523E8-03C8-A487-321A-024FE1F3C554}"/>
                  </a:ext>
                </a:extLst>
              </p:cNvPr>
              <p:cNvCxnSpPr/>
              <p:nvPr/>
            </p:nvCxnSpPr>
            <p:spPr>
              <a:xfrm flipH="1">
                <a:off x="4327730" y="4400078"/>
                <a:ext cx="384050" cy="187325"/>
              </a:xfrm>
              <a:prstGeom prst="line">
                <a:avLst/>
              </a:prstGeom>
              <a:ln>
                <a:solidFill>
                  <a:schemeClr val="tx2">
                    <a:lumMod val="25000"/>
                    <a:lumOff val="75000"/>
                  </a:schemeClr>
                </a:solidFill>
              </a:ln>
            </p:spPr>
            <p:style>
              <a:lnRef idx="2">
                <a:schemeClr val="accent1"/>
              </a:lnRef>
              <a:fillRef idx="0">
                <a:schemeClr val="accent1"/>
              </a:fillRef>
              <a:effectRef idx="1">
                <a:schemeClr val="accent1"/>
              </a:effectRef>
              <a:fontRef idx="minor">
                <a:schemeClr val="tx1"/>
              </a:fontRef>
            </p:style>
          </p:cxnSp>
          <p:cxnSp>
            <p:nvCxnSpPr>
              <p:cNvPr id="77" name="コネクタ: カギ線 76">
                <a:extLst>
                  <a:ext uri="{FF2B5EF4-FFF2-40B4-BE49-F238E27FC236}">
                    <a16:creationId xmlns:a16="http://schemas.microsoft.com/office/drawing/2014/main" id="{1BADFFEC-EEAF-33E3-EA97-20B1F28B9638}"/>
                  </a:ext>
                </a:extLst>
              </p:cNvPr>
              <p:cNvCxnSpPr>
                <a:cxnSpLocks/>
              </p:cNvCxnSpPr>
              <p:nvPr/>
            </p:nvCxnSpPr>
            <p:spPr>
              <a:xfrm flipV="1">
                <a:off x="4711780" y="2014330"/>
                <a:ext cx="2898695" cy="2386669"/>
              </a:xfrm>
              <a:prstGeom prst="bentConnector3">
                <a:avLst/>
              </a:prstGeom>
              <a:ln>
                <a:solidFill>
                  <a:schemeClr val="tx2">
                    <a:lumMod val="25000"/>
                    <a:lumOff val="75000"/>
                  </a:schemeClr>
                </a:solidFill>
              </a:ln>
            </p:spPr>
            <p:style>
              <a:lnRef idx="2">
                <a:schemeClr val="accent1"/>
              </a:lnRef>
              <a:fillRef idx="0">
                <a:schemeClr val="accent1"/>
              </a:fillRef>
              <a:effectRef idx="1">
                <a:schemeClr val="accent1"/>
              </a:effectRef>
              <a:fontRef idx="minor">
                <a:schemeClr val="tx1"/>
              </a:fontRef>
            </p:style>
          </p:cxnSp>
          <p:cxnSp>
            <p:nvCxnSpPr>
              <p:cNvPr id="80" name="直線矢印コネクタ 79">
                <a:extLst>
                  <a:ext uri="{FF2B5EF4-FFF2-40B4-BE49-F238E27FC236}">
                    <a16:creationId xmlns:a16="http://schemas.microsoft.com/office/drawing/2014/main" id="{7CABEC82-E2CB-0CFD-8D73-B15B1C84A5BE}"/>
                  </a:ext>
                </a:extLst>
              </p:cNvPr>
              <p:cNvCxnSpPr>
                <a:cxnSpLocks/>
              </p:cNvCxnSpPr>
              <p:nvPr/>
            </p:nvCxnSpPr>
            <p:spPr>
              <a:xfrm flipV="1">
                <a:off x="7610475" y="1883664"/>
                <a:ext cx="0" cy="130666"/>
              </a:xfrm>
              <a:prstGeom prst="straightConnector1">
                <a:avLst/>
              </a:prstGeom>
              <a:ln>
                <a:solidFill>
                  <a:schemeClr val="tx2">
                    <a:lumMod val="25000"/>
                    <a:lumOff val="75000"/>
                  </a:schemeClr>
                </a:solidFill>
                <a:tailEnd type="triangle"/>
              </a:ln>
            </p:spPr>
            <p:style>
              <a:lnRef idx="2">
                <a:schemeClr val="accent1"/>
              </a:lnRef>
              <a:fillRef idx="0">
                <a:schemeClr val="accent1"/>
              </a:fillRef>
              <a:effectRef idx="1">
                <a:schemeClr val="accent1"/>
              </a:effectRef>
              <a:fontRef idx="minor">
                <a:schemeClr val="tx1"/>
              </a:fontRef>
            </p:style>
          </p:cxnSp>
        </p:grpSp>
      </p:grpSp>
      <p:sp>
        <p:nvSpPr>
          <p:cNvPr id="83" name="二等辺三角形 82">
            <a:extLst>
              <a:ext uri="{FF2B5EF4-FFF2-40B4-BE49-F238E27FC236}">
                <a16:creationId xmlns:a16="http://schemas.microsoft.com/office/drawing/2014/main" id="{6F48F8E7-5390-584B-75CA-DD680FD001A7}"/>
              </a:ext>
            </a:extLst>
          </p:cNvPr>
          <p:cNvSpPr/>
          <p:nvPr/>
        </p:nvSpPr>
        <p:spPr>
          <a:xfrm rot="10800000">
            <a:off x="8838564" y="3311909"/>
            <a:ext cx="472808" cy="218661"/>
          </a:xfrm>
          <a:prstGeom prst="triangl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dirty="0"/>
          </a:p>
        </p:txBody>
      </p:sp>
      <p:sp>
        <p:nvSpPr>
          <p:cNvPr id="84" name="左中かっこ 83">
            <a:extLst>
              <a:ext uri="{FF2B5EF4-FFF2-40B4-BE49-F238E27FC236}">
                <a16:creationId xmlns:a16="http://schemas.microsoft.com/office/drawing/2014/main" id="{26F6D1CC-9A7A-D638-75E6-B6A739028BF8}"/>
              </a:ext>
            </a:extLst>
          </p:cNvPr>
          <p:cNvSpPr/>
          <p:nvPr/>
        </p:nvSpPr>
        <p:spPr>
          <a:xfrm>
            <a:off x="6334095" y="1439366"/>
            <a:ext cx="282436" cy="1735640"/>
          </a:xfrm>
          <a:prstGeom prst="leftBrace">
            <a:avLst/>
          </a:prstGeom>
          <a:ln>
            <a:solidFill>
              <a:schemeClr val="bg2">
                <a:lumMod val="50000"/>
              </a:schemeClr>
            </a:solidFill>
          </a:ln>
        </p:spPr>
        <p:style>
          <a:lnRef idx="2">
            <a:schemeClr val="dk1"/>
          </a:lnRef>
          <a:fillRef idx="0">
            <a:schemeClr val="dk1"/>
          </a:fillRef>
          <a:effectRef idx="1">
            <a:schemeClr val="dk1"/>
          </a:effectRef>
          <a:fontRef idx="minor">
            <a:schemeClr val="tx1"/>
          </a:fontRef>
        </p:style>
        <p:txBody>
          <a:bodyPr rtlCol="0" anchor="ctr"/>
          <a:lstStyle/>
          <a:p>
            <a:pPr algn="ctr"/>
            <a:endParaRPr kumimoji="1" lang="ja-JP" altLang="en-US"/>
          </a:p>
        </p:txBody>
      </p:sp>
      <p:pic>
        <p:nvPicPr>
          <p:cNvPr id="89" name="図 88">
            <a:extLst>
              <a:ext uri="{FF2B5EF4-FFF2-40B4-BE49-F238E27FC236}">
                <a16:creationId xmlns:a16="http://schemas.microsoft.com/office/drawing/2014/main" id="{C435D0B7-3412-2897-70A0-52BC7EC6FAE6}"/>
              </a:ext>
            </a:extLst>
          </p:cNvPr>
          <p:cNvPicPr>
            <a:picLocks noChangeAspect="1"/>
          </p:cNvPicPr>
          <p:nvPr/>
        </p:nvPicPr>
        <p:blipFill>
          <a:blip r:embed="rId7"/>
          <a:stretch>
            <a:fillRect/>
          </a:stretch>
        </p:blipFill>
        <p:spPr>
          <a:xfrm>
            <a:off x="9845880" y="3730019"/>
            <a:ext cx="2258735" cy="732755"/>
          </a:xfrm>
          <a:prstGeom prst="rect">
            <a:avLst/>
          </a:prstGeom>
        </p:spPr>
      </p:pic>
      <p:grpSp>
        <p:nvGrpSpPr>
          <p:cNvPr id="98" name="グループ化 97">
            <a:extLst>
              <a:ext uri="{FF2B5EF4-FFF2-40B4-BE49-F238E27FC236}">
                <a16:creationId xmlns:a16="http://schemas.microsoft.com/office/drawing/2014/main" id="{7FEA2BD8-F479-8723-DBBA-704E24539363}"/>
              </a:ext>
            </a:extLst>
          </p:cNvPr>
          <p:cNvGrpSpPr/>
          <p:nvPr/>
        </p:nvGrpSpPr>
        <p:grpSpPr>
          <a:xfrm>
            <a:off x="6319064" y="3611974"/>
            <a:ext cx="3228360" cy="1346603"/>
            <a:chOff x="6175680" y="3913324"/>
            <a:chExt cx="3228360" cy="1346603"/>
          </a:xfrm>
        </p:grpSpPr>
        <p:pic>
          <p:nvPicPr>
            <p:cNvPr id="91" name="図 90">
              <a:extLst>
                <a:ext uri="{FF2B5EF4-FFF2-40B4-BE49-F238E27FC236}">
                  <a16:creationId xmlns:a16="http://schemas.microsoft.com/office/drawing/2014/main" id="{B8431763-3C75-62A9-F6BD-47640139284A}"/>
                </a:ext>
              </a:extLst>
            </p:cNvPr>
            <p:cNvPicPr>
              <a:picLocks noChangeAspect="1"/>
            </p:cNvPicPr>
            <p:nvPr/>
          </p:nvPicPr>
          <p:blipFill>
            <a:blip r:embed="rId8"/>
            <a:stretch>
              <a:fillRect/>
            </a:stretch>
          </p:blipFill>
          <p:spPr>
            <a:xfrm>
              <a:off x="6367519" y="3938108"/>
              <a:ext cx="3036521" cy="1321819"/>
            </a:xfrm>
            <a:prstGeom prst="rect">
              <a:avLst/>
            </a:prstGeom>
          </p:spPr>
        </p:pic>
        <p:sp>
          <p:nvSpPr>
            <p:cNvPr id="92" name="左中かっこ 91">
              <a:extLst>
                <a:ext uri="{FF2B5EF4-FFF2-40B4-BE49-F238E27FC236}">
                  <a16:creationId xmlns:a16="http://schemas.microsoft.com/office/drawing/2014/main" id="{6A43702E-CB53-B3B9-5E08-FC03A25AA627}"/>
                </a:ext>
              </a:extLst>
            </p:cNvPr>
            <p:cNvSpPr/>
            <p:nvPr/>
          </p:nvSpPr>
          <p:spPr>
            <a:xfrm>
              <a:off x="6175680" y="3913324"/>
              <a:ext cx="286767" cy="1346603"/>
            </a:xfrm>
            <a:prstGeom prst="leftBrace">
              <a:avLst/>
            </a:prstGeom>
            <a:ln>
              <a:solidFill>
                <a:schemeClr val="bg2">
                  <a:lumMod val="50000"/>
                </a:schemeClr>
              </a:solidFill>
            </a:ln>
          </p:spPr>
          <p:style>
            <a:lnRef idx="2">
              <a:schemeClr val="dk1"/>
            </a:lnRef>
            <a:fillRef idx="0">
              <a:schemeClr val="dk1"/>
            </a:fillRef>
            <a:effectRef idx="1">
              <a:schemeClr val="dk1"/>
            </a:effectRef>
            <a:fontRef idx="minor">
              <a:schemeClr val="tx1"/>
            </a:fontRef>
          </p:style>
          <p:txBody>
            <a:bodyPr rtlCol="0" anchor="ctr"/>
            <a:lstStyle/>
            <a:p>
              <a:pPr algn="ctr"/>
              <a:endParaRPr kumimoji="1" lang="ja-JP" altLang="en-US"/>
            </a:p>
          </p:txBody>
        </p:sp>
      </p:grpSp>
      <p:sp>
        <p:nvSpPr>
          <p:cNvPr id="94" name="左中かっこ 93">
            <a:extLst>
              <a:ext uri="{FF2B5EF4-FFF2-40B4-BE49-F238E27FC236}">
                <a16:creationId xmlns:a16="http://schemas.microsoft.com/office/drawing/2014/main" id="{88F35680-3779-8C26-242E-5DEBF55534CA}"/>
              </a:ext>
            </a:extLst>
          </p:cNvPr>
          <p:cNvSpPr/>
          <p:nvPr/>
        </p:nvSpPr>
        <p:spPr>
          <a:xfrm>
            <a:off x="9641540" y="3637774"/>
            <a:ext cx="286767" cy="917243"/>
          </a:xfrm>
          <a:prstGeom prst="leftBrace">
            <a:avLst/>
          </a:prstGeom>
          <a:ln>
            <a:solidFill>
              <a:schemeClr val="bg2">
                <a:lumMod val="50000"/>
              </a:schemeClr>
            </a:solidFill>
          </a:ln>
        </p:spPr>
        <p:style>
          <a:lnRef idx="2">
            <a:schemeClr val="dk1"/>
          </a:lnRef>
          <a:fillRef idx="0">
            <a:schemeClr val="dk1"/>
          </a:fillRef>
          <a:effectRef idx="1">
            <a:schemeClr val="dk1"/>
          </a:effectRef>
          <a:fontRef idx="minor">
            <a:schemeClr val="tx1"/>
          </a:fontRef>
        </p:style>
        <p:txBody>
          <a:bodyPr rtlCol="0" anchor="ctr"/>
          <a:lstStyle/>
          <a:p>
            <a:pPr algn="ctr"/>
            <a:endParaRPr kumimoji="1" lang="ja-JP" altLang="en-US"/>
          </a:p>
        </p:txBody>
      </p:sp>
      <p:pic>
        <p:nvPicPr>
          <p:cNvPr id="96" name="図 95">
            <a:extLst>
              <a:ext uri="{FF2B5EF4-FFF2-40B4-BE49-F238E27FC236}">
                <a16:creationId xmlns:a16="http://schemas.microsoft.com/office/drawing/2014/main" id="{F243FB9A-C077-BF70-0F8D-E267B83B9BFB}"/>
              </a:ext>
            </a:extLst>
          </p:cNvPr>
          <p:cNvPicPr>
            <a:picLocks noChangeAspect="1"/>
          </p:cNvPicPr>
          <p:nvPr/>
        </p:nvPicPr>
        <p:blipFill>
          <a:blip r:embed="rId9"/>
          <a:stretch>
            <a:fillRect/>
          </a:stretch>
        </p:blipFill>
        <p:spPr>
          <a:xfrm>
            <a:off x="6462446" y="5113430"/>
            <a:ext cx="4509539" cy="1459567"/>
          </a:xfrm>
          <a:prstGeom prst="rect">
            <a:avLst/>
          </a:prstGeom>
        </p:spPr>
      </p:pic>
      <p:sp>
        <p:nvSpPr>
          <p:cNvPr id="99" name="コンテンツ プレースホルダー 2">
            <a:extLst>
              <a:ext uri="{FF2B5EF4-FFF2-40B4-BE49-F238E27FC236}">
                <a16:creationId xmlns:a16="http://schemas.microsoft.com/office/drawing/2014/main" id="{ABBF1475-9AFA-202F-59EA-EAE07D851311}"/>
              </a:ext>
            </a:extLst>
          </p:cNvPr>
          <p:cNvSpPr txBox="1">
            <a:spLocks/>
          </p:cNvSpPr>
          <p:nvPr/>
        </p:nvSpPr>
        <p:spPr>
          <a:xfrm>
            <a:off x="9318857" y="3321864"/>
            <a:ext cx="1456656" cy="313401"/>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sz="1600" dirty="0"/>
              <a:t>状態方程式へ</a:t>
            </a:r>
          </a:p>
        </p:txBody>
      </p:sp>
      <p:sp>
        <p:nvSpPr>
          <p:cNvPr id="5" name="正方形/長方形 4">
            <a:extLst>
              <a:ext uri="{FF2B5EF4-FFF2-40B4-BE49-F238E27FC236}">
                <a16:creationId xmlns:a16="http://schemas.microsoft.com/office/drawing/2014/main" id="{3A28FBFD-7CFF-402A-1F3E-F4CF7B2B6D13}"/>
              </a:ext>
            </a:extLst>
          </p:cNvPr>
          <p:cNvSpPr/>
          <p:nvPr/>
        </p:nvSpPr>
        <p:spPr>
          <a:xfrm>
            <a:off x="7235191" y="3611974"/>
            <a:ext cx="855578" cy="420337"/>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正方形/長方形 8">
            <a:extLst>
              <a:ext uri="{FF2B5EF4-FFF2-40B4-BE49-F238E27FC236}">
                <a16:creationId xmlns:a16="http://schemas.microsoft.com/office/drawing/2014/main" id="{491F9919-FEDA-561C-4CCD-A2525E9F1CB5}"/>
              </a:ext>
            </a:extLst>
          </p:cNvPr>
          <p:cNvSpPr/>
          <p:nvPr/>
        </p:nvSpPr>
        <p:spPr>
          <a:xfrm>
            <a:off x="8635587" y="4094657"/>
            <a:ext cx="733002" cy="397046"/>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4004187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A0F5C8-66BA-C917-8477-503F2110145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6333199E-EC82-9C9F-2AE6-22A6FDF3794B}"/>
              </a:ext>
            </a:extLst>
          </p:cNvPr>
          <p:cNvSpPr>
            <a:spLocks noGrp="1"/>
          </p:cNvSpPr>
          <p:nvPr>
            <p:ph type="title"/>
          </p:nvPr>
        </p:nvSpPr>
        <p:spPr/>
        <p:txBody>
          <a:bodyPr/>
          <a:lstStyle/>
          <a:p>
            <a:r>
              <a:rPr kumimoji="1" lang="en-US" altLang="ja-JP" dirty="0"/>
              <a:t>2. </a:t>
            </a:r>
            <a:r>
              <a:rPr kumimoji="1" lang="ja-JP" altLang="en-US" dirty="0"/>
              <a:t>提案手法内容</a:t>
            </a:r>
            <a:r>
              <a:rPr lang="ja-JP" altLang="en-US" dirty="0"/>
              <a:t>　②強化学習のフレームワーク</a:t>
            </a:r>
            <a:endParaRPr kumimoji="1" lang="ja-JP" altLang="en-US" dirty="0"/>
          </a:p>
        </p:txBody>
      </p:sp>
      <p:sp>
        <p:nvSpPr>
          <p:cNvPr id="3" name="コンテンツ プレースホルダー 2">
            <a:extLst>
              <a:ext uri="{FF2B5EF4-FFF2-40B4-BE49-F238E27FC236}">
                <a16:creationId xmlns:a16="http://schemas.microsoft.com/office/drawing/2014/main" id="{08383E46-A7AB-56A0-D4BA-8FE50CCA9C18}"/>
              </a:ext>
            </a:extLst>
          </p:cNvPr>
          <p:cNvSpPr>
            <a:spLocks noGrp="1"/>
          </p:cNvSpPr>
          <p:nvPr>
            <p:ph idx="1"/>
          </p:nvPr>
        </p:nvSpPr>
        <p:spPr>
          <a:xfrm>
            <a:off x="217640" y="1114816"/>
            <a:ext cx="5554510" cy="5235272"/>
          </a:xfrm>
        </p:spPr>
        <p:txBody>
          <a:bodyPr/>
          <a:lstStyle/>
          <a:p>
            <a:pPr>
              <a:buFont typeface="Wingdings" panose="05000000000000000000" pitchFamily="2" charset="2"/>
              <a:buChar char="n"/>
            </a:pPr>
            <a:r>
              <a:rPr lang="ja-JP" altLang="en-US" b="1" dirty="0"/>
              <a:t>強化学習</a:t>
            </a:r>
            <a:endParaRPr kumimoji="1" lang="en-US" altLang="ja-JP" b="1" dirty="0"/>
          </a:p>
          <a:p>
            <a:pPr>
              <a:buFont typeface="Wingdings" panose="05000000000000000000" pitchFamily="2" charset="2"/>
              <a:buChar char="ü"/>
            </a:pPr>
            <a:r>
              <a:rPr lang="ja-JP" altLang="en-US" dirty="0"/>
              <a:t>強化学習のゴール</a:t>
            </a:r>
            <a:r>
              <a:rPr lang="en-US" altLang="ja-JP" dirty="0"/>
              <a:t> = </a:t>
            </a:r>
            <a:r>
              <a:rPr lang="ja-JP" altLang="en-US" dirty="0">
                <a:solidFill>
                  <a:srgbClr val="C00000"/>
                </a:solidFill>
              </a:rPr>
              <a:t>報酬をできる限り大きくする方策を見つけること</a:t>
            </a:r>
            <a:endParaRPr lang="en-US" altLang="ja-JP" dirty="0">
              <a:solidFill>
                <a:srgbClr val="C00000"/>
              </a:solidFill>
            </a:endParaRPr>
          </a:p>
          <a:p>
            <a:pPr>
              <a:buFont typeface="Wingdings" panose="05000000000000000000" pitchFamily="2" charset="2"/>
              <a:buChar char="ü"/>
            </a:pPr>
            <a:r>
              <a:rPr kumimoji="1" lang="ja-JP" altLang="en-US" dirty="0"/>
              <a:t>本論文ではマルコフ決定過程の枠組みを利用</a:t>
            </a:r>
            <a:endParaRPr kumimoji="1" lang="en-US" altLang="ja-JP" dirty="0"/>
          </a:p>
          <a:p>
            <a:pPr>
              <a:buFont typeface="Wingdings" panose="05000000000000000000" pitchFamily="2" charset="2"/>
              <a:buChar char="ü"/>
            </a:pPr>
            <a:endParaRPr lang="en-US" altLang="ja-JP" dirty="0"/>
          </a:p>
          <a:p>
            <a:pPr>
              <a:buFont typeface="Wingdings" panose="05000000000000000000" pitchFamily="2" charset="2"/>
              <a:buChar char="n"/>
            </a:pPr>
            <a:r>
              <a:rPr kumimoji="1" lang="ja-JP" altLang="en-US" b="1" dirty="0"/>
              <a:t>マルコフ決定過程</a:t>
            </a:r>
            <a:r>
              <a:rPr kumimoji="1" lang="en-US" altLang="ja-JP" b="1" dirty="0"/>
              <a:t>(MDP)</a:t>
            </a:r>
          </a:p>
          <a:p>
            <a:pPr marL="0" indent="0">
              <a:buNone/>
            </a:pPr>
            <a:r>
              <a:rPr lang="ja-JP" altLang="en-US" dirty="0"/>
              <a:t>状態遷移が「現在の状態」と「そのときの行動」によって決定するモデル</a:t>
            </a:r>
            <a:endParaRPr kumimoji="1" lang="ja-JP" altLang="en-US" dirty="0"/>
          </a:p>
        </p:txBody>
      </p:sp>
      <p:sp>
        <p:nvSpPr>
          <p:cNvPr id="4" name="スライド番号プレースホルダー 3">
            <a:extLst>
              <a:ext uri="{FF2B5EF4-FFF2-40B4-BE49-F238E27FC236}">
                <a16:creationId xmlns:a16="http://schemas.microsoft.com/office/drawing/2014/main" id="{072879FE-89D3-A2B0-9DCC-2EA7088F51CD}"/>
              </a:ext>
            </a:extLst>
          </p:cNvPr>
          <p:cNvSpPr>
            <a:spLocks noGrp="1"/>
          </p:cNvSpPr>
          <p:nvPr>
            <p:ph type="sldNum" sz="quarter" idx="12"/>
          </p:nvPr>
        </p:nvSpPr>
        <p:spPr/>
        <p:txBody>
          <a:bodyPr/>
          <a:lstStyle/>
          <a:p>
            <a:fld id="{F60111BC-1026-41FD-925F-FB719F33286F}" type="slidenum">
              <a:rPr lang="ja-JP" altLang="en-US" smtClean="0"/>
              <a:pPr/>
              <a:t>5</a:t>
            </a:fld>
            <a:endParaRPr lang="ja-JP" altLang="en-US"/>
          </a:p>
        </p:txBody>
      </p:sp>
      <p:sp>
        <p:nvSpPr>
          <p:cNvPr id="5" name="コンテンツ プレースホルダー 2">
            <a:extLst>
              <a:ext uri="{FF2B5EF4-FFF2-40B4-BE49-F238E27FC236}">
                <a16:creationId xmlns:a16="http://schemas.microsoft.com/office/drawing/2014/main" id="{8EA98144-AD90-65F3-CCB9-9AC5CA04E785}"/>
              </a:ext>
            </a:extLst>
          </p:cNvPr>
          <p:cNvSpPr txBox="1">
            <a:spLocks/>
          </p:cNvSpPr>
          <p:nvPr/>
        </p:nvSpPr>
        <p:spPr>
          <a:xfrm>
            <a:off x="1652587" y="2597150"/>
            <a:ext cx="4229100" cy="334575"/>
          </a:xfrm>
          <a:prstGeom prst="rect">
            <a:avLst/>
          </a:prstGeom>
          <a:ln>
            <a:no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en-US" altLang="ja-JP" sz="1600" dirty="0"/>
              <a:t>※</a:t>
            </a:r>
            <a:r>
              <a:rPr lang="ja-JP" altLang="en-US" sz="1600" dirty="0"/>
              <a:t>方策：エージェントが従う行動のルール</a:t>
            </a:r>
            <a:endParaRPr lang="en-US" altLang="ja-JP" sz="1600" dirty="0"/>
          </a:p>
        </p:txBody>
      </p:sp>
      <p:sp>
        <p:nvSpPr>
          <p:cNvPr id="7" name="テキスト ボックス 6">
            <a:extLst>
              <a:ext uri="{FF2B5EF4-FFF2-40B4-BE49-F238E27FC236}">
                <a16:creationId xmlns:a16="http://schemas.microsoft.com/office/drawing/2014/main" id="{C20D6373-A098-3585-098C-6CD8E412630E}"/>
              </a:ext>
            </a:extLst>
          </p:cNvPr>
          <p:cNvSpPr txBox="1"/>
          <p:nvPr/>
        </p:nvSpPr>
        <p:spPr>
          <a:xfrm>
            <a:off x="1082675" y="6390015"/>
            <a:ext cx="4175125" cy="261610"/>
          </a:xfrm>
          <a:prstGeom prst="rect">
            <a:avLst/>
          </a:prstGeom>
          <a:noFill/>
        </p:spPr>
        <p:txBody>
          <a:bodyPr wrap="square">
            <a:spAutoFit/>
          </a:bodyPr>
          <a:lstStyle/>
          <a:p>
            <a:r>
              <a:rPr lang="en-US" altLang="ja-JP" sz="1100" dirty="0"/>
              <a:t>( </a:t>
            </a:r>
            <a:r>
              <a:rPr lang="ja-JP" altLang="en-US" sz="1100" dirty="0">
                <a:hlinkClick r:id="rId2"/>
              </a:rPr>
              <a:t>https://www.geolab.jp/documents/column/ai-012/</a:t>
            </a:r>
            <a:r>
              <a:rPr lang="ja-JP" altLang="en-US" sz="1100" dirty="0"/>
              <a:t> </a:t>
            </a:r>
            <a:r>
              <a:rPr lang="en-US" altLang="ja-JP" sz="1100" dirty="0"/>
              <a:t>)</a:t>
            </a:r>
            <a:endParaRPr lang="ja-JP" altLang="en-US" sz="1100" dirty="0"/>
          </a:p>
        </p:txBody>
      </p:sp>
      <p:pic>
        <p:nvPicPr>
          <p:cNvPr id="9" name="図 8">
            <a:extLst>
              <a:ext uri="{FF2B5EF4-FFF2-40B4-BE49-F238E27FC236}">
                <a16:creationId xmlns:a16="http://schemas.microsoft.com/office/drawing/2014/main" id="{3AB06037-FC53-734E-F1BB-BA9CC1C2A76D}"/>
              </a:ext>
            </a:extLst>
          </p:cNvPr>
          <p:cNvPicPr>
            <a:picLocks noChangeAspect="1"/>
          </p:cNvPicPr>
          <p:nvPr/>
        </p:nvPicPr>
        <p:blipFill>
          <a:blip r:embed="rId3"/>
          <a:stretch>
            <a:fillRect/>
          </a:stretch>
        </p:blipFill>
        <p:spPr>
          <a:xfrm>
            <a:off x="1014799" y="4106552"/>
            <a:ext cx="3960192" cy="2263499"/>
          </a:xfrm>
          <a:prstGeom prst="rect">
            <a:avLst/>
          </a:prstGeom>
        </p:spPr>
      </p:pic>
      <p:sp>
        <p:nvSpPr>
          <p:cNvPr id="12" name="コンテンツ プレースホルダー 2">
            <a:extLst>
              <a:ext uri="{FF2B5EF4-FFF2-40B4-BE49-F238E27FC236}">
                <a16:creationId xmlns:a16="http://schemas.microsoft.com/office/drawing/2014/main" id="{F21942BB-8821-E7D8-6445-4F1F7A4BF0BD}"/>
              </a:ext>
            </a:extLst>
          </p:cNvPr>
          <p:cNvSpPr txBox="1">
            <a:spLocks/>
          </p:cNvSpPr>
          <p:nvPr/>
        </p:nvSpPr>
        <p:spPr>
          <a:xfrm>
            <a:off x="5957256" y="1114816"/>
            <a:ext cx="5554510" cy="523527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buFont typeface="Wingdings" panose="05000000000000000000" pitchFamily="2" charset="2"/>
              <a:buChar char="n"/>
            </a:pPr>
            <a:r>
              <a:rPr lang="en-US" altLang="ja-JP" b="1" dirty="0"/>
              <a:t>MDP</a:t>
            </a:r>
            <a:r>
              <a:rPr lang="ja-JP" altLang="en-US" b="1" dirty="0"/>
              <a:t>を利用したワークフロー</a:t>
            </a:r>
          </a:p>
        </p:txBody>
      </p:sp>
      <p:grpSp>
        <p:nvGrpSpPr>
          <p:cNvPr id="17" name="グループ化 16">
            <a:extLst>
              <a:ext uri="{FF2B5EF4-FFF2-40B4-BE49-F238E27FC236}">
                <a16:creationId xmlns:a16="http://schemas.microsoft.com/office/drawing/2014/main" id="{CD428C12-4E45-3B66-D60F-08A7EDFCCF40}"/>
              </a:ext>
            </a:extLst>
          </p:cNvPr>
          <p:cNvGrpSpPr/>
          <p:nvPr/>
        </p:nvGrpSpPr>
        <p:grpSpPr>
          <a:xfrm>
            <a:off x="6692747" y="1619967"/>
            <a:ext cx="5202061" cy="4981575"/>
            <a:chOff x="6692747" y="1619967"/>
            <a:chExt cx="5202061" cy="4981575"/>
          </a:xfrm>
        </p:grpSpPr>
        <p:pic>
          <p:nvPicPr>
            <p:cNvPr id="11" name="図 10">
              <a:extLst>
                <a:ext uri="{FF2B5EF4-FFF2-40B4-BE49-F238E27FC236}">
                  <a16:creationId xmlns:a16="http://schemas.microsoft.com/office/drawing/2014/main" id="{FE6ED542-0B76-4162-9636-2CA98E8FE8C0}"/>
                </a:ext>
              </a:extLst>
            </p:cNvPr>
            <p:cNvPicPr>
              <a:picLocks noChangeAspect="1"/>
            </p:cNvPicPr>
            <p:nvPr/>
          </p:nvPicPr>
          <p:blipFill>
            <a:blip r:embed="rId4"/>
            <a:stretch>
              <a:fillRect/>
            </a:stretch>
          </p:blipFill>
          <p:spPr>
            <a:xfrm>
              <a:off x="6692747" y="1619967"/>
              <a:ext cx="5202061" cy="4981575"/>
            </a:xfrm>
            <a:prstGeom prst="rect">
              <a:avLst/>
            </a:prstGeom>
          </p:spPr>
        </p:pic>
        <p:sp>
          <p:nvSpPr>
            <p:cNvPr id="13" name="テキスト ボックス 12">
              <a:extLst>
                <a:ext uri="{FF2B5EF4-FFF2-40B4-BE49-F238E27FC236}">
                  <a16:creationId xmlns:a16="http://schemas.microsoft.com/office/drawing/2014/main" id="{9949CB7E-2113-0161-02FF-BD29AAB72B31}"/>
                </a:ext>
              </a:extLst>
            </p:cNvPr>
            <p:cNvSpPr txBox="1"/>
            <p:nvPr/>
          </p:nvSpPr>
          <p:spPr>
            <a:xfrm>
              <a:off x="7330020" y="1619967"/>
              <a:ext cx="1210588" cy="338554"/>
            </a:xfrm>
            <a:prstGeom prst="rect">
              <a:avLst/>
            </a:prstGeom>
            <a:noFill/>
          </p:spPr>
          <p:txBody>
            <a:bodyPr wrap="none" rtlCol="0">
              <a:spAutoFit/>
            </a:bodyPr>
            <a:lstStyle/>
            <a:p>
              <a:r>
                <a:rPr kumimoji="1" lang="ja-JP" altLang="en-US" sz="1600" b="1" dirty="0">
                  <a:solidFill>
                    <a:srgbClr val="C00000"/>
                  </a:solidFill>
                </a:rPr>
                <a:t>入力データ</a:t>
              </a:r>
            </a:p>
          </p:txBody>
        </p:sp>
        <p:sp>
          <p:nvSpPr>
            <p:cNvPr id="16" name="テキスト ボックス 15">
              <a:extLst>
                <a:ext uri="{FF2B5EF4-FFF2-40B4-BE49-F238E27FC236}">
                  <a16:creationId xmlns:a16="http://schemas.microsoft.com/office/drawing/2014/main" id="{0157A547-AA0A-5DD1-8C51-9D92C9667507}"/>
                </a:ext>
              </a:extLst>
            </p:cNvPr>
            <p:cNvSpPr txBox="1"/>
            <p:nvPr/>
          </p:nvSpPr>
          <p:spPr>
            <a:xfrm>
              <a:off x="8493558" y="5420355"/>
              <a:ext cx="1005403" cy="338554"/>
            </a:xfrm>
            <a:prstGeom prst="rect">
              <a:avLst/>
            </a:prstGeom>
            <a:noFill/>
          </p:spPr>
          <p:txBody>
            <a:bodyPr wrap="none" rtlCol="0">
              <a:spAutoFit/>
            </a:bodyPr>
            <a:lstStyle/>
            <a:p>
              <a:r>
                <a:rPr lang="ja-JP" altLang="en-US" sz="1600" b="1" dirty="0">
                  <a:solidFill>
                    <a:srgbClr val="C00000"/>
                  </a:solidFill>
                </a:rPr>
                <a:t>報酬関数</a:t>
              </a:r>
              <a:endParaRPr kumimoji="1" lang="ja-JP" altLang="en-US" sz="1600" b="1" dirty="0">
                <a:solidFill>
                  <a:srgbClr val="C00000"/>
                </a:solidFill>
              </a:endParaRPr>
            </a:p>
          </p:txBody>
        </p:sp>
      </p:grpSp>
    </p:spTree>
    <p:extLst>
      <p:ext uri="{BB962C8B-B14F-4D97-AF65-F5344CB8AC3E}">
        <p14:creationId xmlns:p14="http://schemas.microsoft.com/office/powerpoint/2010/main" val="21739330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CEA884-41B1-74B9-3BC0-74CC473AAEC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8B45710-554B-669A-C394-FA43480F5EFC}"/>
              </a:ext>
            </a:extLst>
          </p:cNvPr>
          <p:cNvSpPr>
            <a:spLocks noGrp="1"/>
          </p:cNvSpPr>
          <p:nvPr>
            <p:ph type="title"/>
          </p:nvPr>
        </p:nvSpPr>
        <p:spPr/>
        <p:txBody>
          <a:bodyPr/>
          <a:lstStyle/>
          <a:p>
            <a:r>
              <a:rPr kumimoji="1" lang="en-US" altLang="ja-JP" dirty="0"/>
              <a:t>2. </a:t>
            </a:r>
            <a:r>
              <a:rPr kumimoji="1" lang="ja-JP" altLang="en-US" dirty="0"/>
              <a:t>提案手法内容</a:t>
            </a:r>
            <a:r>
              <a:rPr lang="ja-JP" altLang="en-US" dirty="0"/>
              <a:t>　②強化学習のフレームワーク</a:t>
            </a:r>
            <a:endParaRPr kumimoji="1" lang="ja-JP" altLang="en-US" dirty="0"/>
          </a:p>
        </p:txBody>
      </p:sp>
      <p:sp>
        <p:nvSpPr>
          <p:cNvPr id="3" name="コンテンツ プレースホルダー 2">
            <a:extLst>
              <a:ext uri="{FF2B5EF4-FFF2-40B4-BE49-F238E27FC236}">
                <a16:creationId xmlns:a16="http://schemas.microsoft.com/office/drawing/2014/main" id="{712B2A18-3A69-B456-A817-C290CDA4D7FC}"/>
              </a:ext>
            </a:extLst>
          </p:cNvPr>
          <p:cNvSpPr>
            <a:spLocks noGrp="1"/>
          </p:cNvSpPr>
          <p:nvPr>
            <p:ph idx="1"/>
          </p:nvPr>
        </p:nvSpPr>
        <p:spPr>
          <a:xfrm>
            <a:off x="217640" y="1114816"/>
            <a:ext cx="5554510" cy="5235272"/>
          </a:xfrm>
        </p:spPr>
        <p:txBody>
          <a:bodyPr/>
          <a:lstStyle/>
          <a:p>
            <a:pPr>
              <a:buFont typeface="Wingdings" panose="05000000000000000000" pitchFamily="2" charset="2"/>
              <a:buChar char="n"/>
            </a:pPr>
            <a:r>
              <a:rPr kumimoji="1" lang="ja-JP" altLang="en-US" b="1" dirty="0"/>
              <a:t>報酬関数</a:t>
            </a:r>
            <a:r>
              <a:rPr kumimoji="1" lang="en-US" altLang="ja-JP" b="1" dirty="0"/>
              <a:t>(Reward)</a:t>
            </a:r>
          </a:p>
          <a:p>
            <a:r>
              <a:rPr lang="en-US" altLang="ja-JP" dirty="0"/>
              <a:t>AI</a:t>
            </a:r>
            <a:r>
              <a:rPr lang="ja-JP" altLang="en-US" dirty="0"/>
              <a:t>のアクションを評価する採点基準</a:t>
            </a:r>
            <a:endParaRPr lang="en-US" altLang="ja-JP" dirty="0"/>
          </a:p>
          <a:p>
            <a:r>
              <a:rPr lang="ja-JP" altLang="en-US" dirty="0"/>
              <a:t>重み付け係数　　　　　でバランス調整</a:t>
            </a:r>
            <a:endParaRPr lang="en-US" altLang="ja-JP" dirty="0"/>
          </a:p>
          <a:p>
            <a:pPr marL="0" indent="0">
              <a:buNone/>
            </a:pPr>
            <a:endParaRPr kumimoji="1" lang="en-US" altLang="ja-JP" dirty="0"/>
          </a:p>
          <a:p>
            <a:pPr marL="0" indent="0">
              <a:buNone/>
            </a:pPr>
            <a:endParaRPr kumimoji="1" lang="en-US" altLang="ja-JP" sz="800" dirty="0"/>
          </a:p>
          <a:p>
            <a:pPr marL="0" indent="0">
              <a:buNone/>
            </a:pPr>
            <a:endParaRPr kumimoji="1" lang="en-US" altLang="ja-JP" dirty="0"/>
          </a:p>
        </p:txBody>
      </p:sp>
      <p:sp>
        <p:nvSpPr>
          <p:cNvPr id="4" name="スライド番号プレースホルダー 3">
            <a:extLst>
              <a:ext uri="{FF2B5EF4-FFF2-40B4-BE49-F238E27FC236}">
                <a16:creationId xmlns:a16="http://schemas.microsoft.com/office/drawing/2014/main" id="{E8A2CCCF-D857-73FC-E714-C577DDEA39C7}"/>
              </a:ext>
            </a:extLst>
          </p:cNvPr>
          <p:cNvSpPr>
            <a:spLocks noGrp="1"/>
          </p:cNvSpPr>
          <p:nvPr>
            <p:ph type="sldNum" sz="quarter" idx="12"/>
          </p:nvPr>
        </p:nvSpPr>
        <p:spPr/>
        <p:txBody>
          <a:bodyPr/>
          <a:lstStyle/>
          <a:p>
            <a:fld id="{F60111BC-1026-41FD-925F-FB719F33286F}" type="slidenum">
              <a:rPr lang="ja-JP" altLang="en-US" smtClean="0"/>
              <a:pPr/>
              <a:t>6</a:t>
            </a:fld>
            <a:endParaRPr lang="ja-JP" altLang="en-US"/>
          </a:p>
        </p:txBody>
      </p:sp>
      <p:sp>
        <p:nvSpPr>
          <p:cNvPr id="12" name="コンテンツ プレースホルダー 2">
            <a:extLst>
              <a:ext uri="{FF2B5EF4-FFF2-40B4-BE49-F238E27FC236}">
                <a16:creationId xmlns:a16="http://schemas.microsoft.com/office/drawing/2014/main" id="{733E7044-9B0D-45D9-B217-5F24D10825A0}"/>
              </a:ext>
            </a:extLst>
          </p:cNvPr>
          <p:cNvSpPr txBox="1">
            <a:spLocks/>
          </p:cNvSpPr>
          <p:nvPr/>
        </p:nvSpPr>
        <p:spPr>
          <a:xfrm>
            <a:off x="5957256" y="1114816"/>
            <a:ext cx="5554510" cy="523527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buFont typeface="Wingdings" panose="05000000000000000000" pitchFamily="2" charset="2"/>
              <a:buChar char="n"/>
            </a:pPr>
            <a:r>
              <a:rPr lang="en-US" altLang="ja-JP" b="1" dirty="0"/>
              <a:t>DDPG</a:t>
            </a:r>
            <a:r>
              <a:rPr lang="ja-JP" altLang="en-US" b="1" dirty="0"/>
              <a:t>アルゴリズム</a:t>
            </a:r>
            <a:endParaRPr lang="en-US" altLang="ja-JP" b="1" dirty="0"/>
          </a:p>
          <a:p>
            <a:r>
              <a:rPr lang="en-US" altLang="ja-JP" dirty="0"/>
              <a:t>2</a:t>
            </a:r>
            <a:r>
              <a:rPr lang="ja-JP" altLang="en-US" dirty="0"/>
              <a:t>つの深層</a:t>
            </a:r>
            <a:r>
              <a:rPr lang="en-US" altLang="ja-JP" dirty="0"/>
              <a:t>NN</a:t>
            </a:r>
            <a:r>
              <a:rPr lang="ja-JP" altLang="en-US" dirty="0"/>
              <a:t>「</a:t>
            </a:r>
            <a:r>
              <a:rPr lang="ja-JP" altLang="en-US" dirty="0">
                <a:solidFill>
                  <a:srgbClr val="C00000"/>
                </a:solidFill>
              </a:rPr>
              <a:t>アクター</a:t>
            </a:r>
            <a:r>
              <a:rPr lang="ja-JP" altLang="en-US" dirty="0"/>
              <a:t>」と「</a:t>
            </a:r>
            <a:r>
              <a:rPr lang="ja-JP" altLang="en-US" dirty="0">
                <a:solidFill>
                  <a:srgbClr val="C00000"/>
                </a:solidFill>
              </a:rPr>
              <a:t>クリティック</a:t>
            </a:r>
            <a:r>
              <a:rPr lang="ja-JP" altLang="en-US" dirty="0"/>
              <a:t>」が対話するように働く</a:t>
            </a:r>
            <a:endParaRPr lang="en-US" altLang="ja-JP" dirty="0"/>
          </a:p>
          <a:p>
            <a:r>
              <a:rPr lang="ja-JP" altLang="en-US" dirty="0"/>
              <a:t>下図の過程で合計報酬を最大化する最適な方策を探して見つける</a:t>
            </a:r>
            <a:endParaRPr lang="en-US" altLang="ja-JP" dirty="0"/>
          </a:p>
        </p:txBody>
      </p:sp>
      <p:pic>
        <p:nvPicPr>
          <p:cNvPr id="8" name="図 7">
            <a:extLst>
              <a:ext uri="{FF2B5EF4-FFF2-40B4-BE49-F238E27FC236}">
                <a16:creationId xmlns:a16="http://schemas.microsoft.com/office/drawing/2014/main" id="{C40A192C-4141-CA0C-E79C-0DE5D618E715}"/>
              </a:ext>
            </a:extLst>
          </p:cNvPr>
          <p:cNvPicPr>
            <a:picLocks noChangeAspect="1"/>
          </p:cNvPicPr>
          <p:nvPr/>
        </p:nvPicPr>
        <p:blipFill>
          <a:blip r:embed="rId2"/>
          <a:stretch>
            <a:fillRect/>
          </a:stretch>
        </p:blipFill>
        <p:spPr>
          <a:xfrm>
            <a:off x="317500" y="2341466"/>
            <a:ext cx="5454650" cy="365465"/>
          </a:xfrm>
          <a:prstGeom prst="rect">
            <a:avLst/>
          </a:prstGeom>
        </p:spPr>
      </p:pic>
      <p:grpSp>
        <p:nvGrpSpPr>
          <p:cNvPr id="20" name="グループ化 19">
            <a:extLst>
              <a:ext uri="{FF2B5EF4-FFF2-40B4-BE49-F238E27FC236}">
                <a16:creationId xmlns:a16="http://schemas.microsoft.com/office/drawing/2014/main" id="{8339E150-C914-7113-26DF-FA4CC243D0E8}"/>
              </a:ext>
            </a:extLst>
          </p:cNvPr>
          <p:cNvGrpSpPr/>
          <p:nvPr/>
        </p:nvGrpSpPr>
        <p:grpSpPr>
          <a:xfrm>
            <a:off x="1364987" y="2714203"/>
            <a:ext cx="4119233" cy="3944642"/>
            <a:chOff x="1364987" y="2714203"/>
            <a:chExt cx="4119233" cy="3944642"/>
          </a:xfrm>
        </p:grpSpPr>
        <p:pic>
          <p:nvPicPr>
            <p:cNvPr id="19" name="図 18">
              <a:extLst>
                <a:ext uri="{FF2B5EF4-FFF2-40B4-BE49-F238E27FC236}">
                  <a16:creationId xmlns:a16="http://schemas.microsoft.com/office/drawing/2014/main" id="{F4F5C9E9-4494-76DB-BECF-4D622A9D38E1}"/>
                </a:ext>
              </a:extLst>
            </p:cNvPr>
            <p:cNvPicPr>
              <a:picLocks noChangeAspect="1"/>
            </p:cNvPicPr>
            <p:nvPr/>
          </p:nvPicPr>
          <p:blipFill>
            <a:blip r:embed="rId3"/>
            <a:stretch>
              <a:fillRect/>
            </a:stretch>
          </p:blipFill>
          <p:spPr>
            <a:xfrm>
              <a:off x="1364987" y="2714203"/>
              <a:ext cx="4119233" cy="3944642"/>
            </a:xfrm>
            <a:prstGeom prst="rect">
              <a:avLst/>
            </a:prstGeom>
          </p:spPr>
        </p:pic>
        <p:sp>
          <p:nvSpPr>
            <p:cNvPr id="16" name="テキスト ボックス 15">
              <a:extLst>
                <a:ext uri="{FF2B5EF4-FFF2-40B4-BE49-F238E27FC236}">
                  <a16:creationId xmlns:a16="http://schemas.microsoft.com/office/drawing/2014/main" id="{E7E23CF0-3CB4-12B7-EA77-6FEC01D49856}"/>
                </a:ext>
              </a:extLst>
            </p:cNvPr>
            <p:cNvSpPr txBox="1"/>
            <p:nvPr/>
          </p:nvSpPr>
          <p:spPr>
            <a:xfrm>
              <a:off x="1712067" y="5093900"/>
              <a:ext cx="1005403" cy="338554"/>
            </a:xfrm>
            <a:prstGeom prst="rect">
              <a:avLst/>
            </a:prstGeom>
            <a:noFill/>
          </p:spPr>
          <p:txBody>
            <a:bodyPr wrap="none" rtlCol="0">
              <a:spAutoFit/>
            </a:bodyPr>
            <a:lstStyle/>
            <a:p>
              <a:r>
                <a:rPr lang="ja-JP" altLang="en-US" sz="1600" b="1" dirty="0">
                  <a:solidFill>
                    <a:srgbClr val="C00000"/>
                  </a:solidFill>
                </a:rPr>
                <a:t>報酬関数</a:t>
              </a:r>
              <a:endParaRPr kumimoji="1" lang="ja-JP" altLang="en-US" sz="1600" b="1" dirty="0">
                <a:solidFill>
                  <a:srgbClr val="C00000"/>
                </a:solidFill>
              </a:endParaRPr>
            </a:p>
          </p:txBody>
        </p:sp>
        <p:sp>
          <p:nvSpPr>
            <p:cNvPr id="10" name="正方形/長方形 9">
              <a:extLst>
                <a:ext uri="{FF2B5EF4-FFF2-40B4-BE49-F238E27FC236}">
                  <a16:creationId xmlns:a16="http://schemas.microsoft.com/office/drawing/2014/main" id="{62B51CA3-5927-4919-1744-E946B35EF20C}"/>
                </a:ext>
              </a:extLst>
            </p:cNvPr>
            <p:cNvSpPr/>
            <p:nvPr/>
          </p:nvSpPr>
          <p:spPr>
            <a:xfrm>
              <a:off x="2774950" y="4565650"/>
              <a:ext cx="1187450" cy="1282700"/>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pic>
        <p:nvPicPr>
          <p:cNvPr id="15" name="図 14">
            <a:extLst>
              <a:ext uri="{FF2B5EF4-FFF2-40B4-BE49-F238E27FC236}">
                <a16:creationId xmlns:a16="http://schemas.microsoft.com/office/drawing/2014/main" id="{9571D39B-1A30-39FA-ECA6-5180C2019FF0}"/>
              </a:ext>
            </a:extLst>
          </p:cNvPr>
          <p:cNvPicPr>
            <a:picLocks noChangeAspect="1"/>
          </p:cNvPicPr>
          <p:nvPr/>
        </p:nvPicPr>
        <p:blipFill>
          <a:blip r:embed="rId4"/>
          <a:stretch>
            <a:fillRect/>
          </a:stretch>
        </p:blipFill>
        <p:spPr>
          <a:xfrm>
            <a:off x="2148815" y="1934486"/>
            <a:ext cx="1137310" cy="280323"/>
          </a:xfrm>
          <a:prstGeom prst="rect">
            <a:avLst/>
          </a:prstGeom>
        </p:spPr>
      </p:pic>
      <p:pic>
        <p:nvPicPr>
          <p:cNvPr id="18" name="図 17">
            <a:extLst>
              <a:ext uri="{FF2B5EF4-FFF2-40B4-BE49-F238E27FC236}">
                <a16:creationId xmlns:a16="http://schemas.microsoft.com/office/drawing/2014/main" id="{41A99607-F82D-B160-623A-E2498DD17490}"/>
              </a:ext>
            </a:extLst>
          </p:cNvPr>
          <p:cNvPicPr>
            <a:picLocks noChangeAspect="1"/>
          </p:cNvPicPr>
          <p:nvPr/>
        </p:nvPicPr>
        <p:blipFill>
          <a:blip r:embed="rId5"/>
          <a:stretch>
            <a:fillRect/>
          </a:stretch>
        </p:blipFill>
        <p:spPr>
          <a:xfrm>
            <a:off x="6767097" y="2858330"/>
            <a:ext cx="4324623" cy="3868625"/>
          </a:xfrm>
          <a:prstGeom prst="rect">
            <a:avLst/>
          </a:prstGeom>
        </p:spPr>
      </p:pic>
    </p:spTree>
    <p:extLst>
      <p:ext uri="{BB962C8B-B14F-4D97-AF65-F5344CB8AC3E}">
        <p14:creationId xmlns:p14="http://schemas.microsoft.com/office/powerpoint/2010/main" val="15678607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9B2B66-CC71-A19F-5F1B-EFAF6BE8C1E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6506FD2-1014-CFC7-ED76-7C48794CCAEC}"/>
              </a:ext>
            </a:extLst>
          </p:cNvPr>
          <p:cNvSpPr>
            <a:spLocks noGrp="1"/>
          </p:cNvSpPr>
          <p:nvPr>
            <p:ph type="title"/>
          </p:nvPr>
        </p:nvSpPr>
        <p:spPr/>
        <p:txBody>
          <a:bodyPr/>
          <a:lstStyle/>
          <a:p>
            <a:r>
              <a:rPr lang="en-US" altLang="ja-JP" dirty="0"/>
              <a:t>3. </a:t>
            </a:r>
            <a:r>
              <a:rPr lang="ja-JP" altLang="en-US" dirty="0"/>
              <a:t>シミュレーション結果</a:t>
            </a:r>
            <a:r>
              <a:rPr kumimoji="1" lang="en-US" altLang="ja-JP" dirty="0"/>
              <a:t> </a:t>
            </a:r>
            <a:endParaRPr kumimoji="1" lang="ja-JP" altLang="en-US" dirty="0"/>
          </a:p>
        </p:txBody>
      </p:sp>
      <p:sp>
        <p:nvSpPr>
          <p:cNvPr id="3" name="コンテンツ プレースホルダー 2">
            <a:extLst>
              <a:ext uri="{FF2B5EF4-FFF2-40B4-BE49-F238E27FC236}">
                <a16:creationId xmlns:a16="http://schemas.microsoft.com/office/drawing/2014/main" id="{5D9DB6C7-527C-2D84-C478-8571045383D3}"/>
              </a:ext>
            </a:extLst>
          </p:cNvPr>
          <p:cNvSpPr>
            <a:spLocks noGrp="1"/>
          </p:cNvSpPr>
          <p:nvPr>
            <p:ph idx="1"/>
          </p:nvPr>
        </p:nvSpPr>
        <p:spPr>
          <a:xfrm>
            <a:off x="217640" y="1114816"/>
            <a:ext cx="5626569" cy="5235272"/>
          </a:xfrm>
        </p:spPr>
        <p:txBody>
          <a:bodyPr/>
          <a:lstStyle/>
          <a:p>
            <a:pPr>
              <a:buFont typeface="Wingdings" panose="05000000000000000000" pitchFamily="2" charset="2"/>
              <a:buChar char="n"/>
            </a:pPr>
            <a:r>
              <a:rPr kumimoji="1" lang="en-US" altLang="ja-JP" b="1" dirty="0"/>
              <a:t>DDPG</a:t>
            </a:r>
            <a:r>
              <a:rPr kumimoji="1" lang="ja-JP" altLang="en-US" b="1" dirty="0"/>
              <a:t>のパフォーマンス</a:t>
            </a:r>
            <a:endParaRPr kumimoji="1" lang="en-US" altLang="ja-JP" b="1" dirty="0"/>
          </a:p>
          <a:p>
            <a:pPr marL="0" indent="0">
              <a:buNone/>
            </a:pPr>
            <a:r>
              <a:rPr lang="en-US" altLang="ja-JP" dirty="0"/>
              <a:t>(</a:t>
            </a:r>
            <a:r>
              <a:rPr kumimoji="1" lang="ja-JP" altLang="en-US" dirty="0"/>
              <a:t>今回の訓練では</a:t>
            </a:r>
            <a:r>
              <a:rPr kumimoji="1" lang="en-US" altLang="ja-JP" dirty="0"/>
              <a:t>900</a:t>
            </a:r>
            <a:r>
              <a:rPr kumimoji="1" lang="ja-JP" altLang="en-US" dirty="0"/>
              <a:t>点が学習完了のゴール</a:t>
            </a:r>
            <a:r>
              <a:rPr kumimoji="1" lang="en-US" altLang="ja-JP" dirty="0"/>
              <a:t>)</a:t>
            </a:r>
          </a:p>
          <a:p>
            <a:pPr>
              <a:buFont typeface="Wingdings" panose="05000000000000000000" pitchFamily="2" charset="2"/>
              <a:buChar char="ü"/>
            </a:pPr>
            <a:r>
              <a:rPr kumimoji="1" lang="ja-JP" altLang="en-US" dirty="0"/>
              <a:t>約</a:t>
            </a:r>
            <a:r>
              <a:rPr kumimoji="1" lang="en-US" altLang="ja-JP" dirty="0"/>
              <a:t>250</a:t>
            </a:r>
            <a:r>
              <a:rPr kumimoji="1" lang="ja-JP" altLang="en-US" dirty="0"/>
              <a:t>回の練習で目標値を達成</a:t>
            </a:r>
            <a:endParaRPr kumimoji="1" lang="en-US" altLang="ja-JP" dirty="0"/>
          </a:p>
          <a:p>
            <a:pPr>
              <a:buFont typeface="Wingdings" panose="05000000000000000000" pitchFamily="2" charset="2"/>
              <a:buChar char="ü"/>
            </a:pPr>
            <a:r>
              <a:rPr kumimoji="1" lang="ja-JP" altLang="en-US" dirty="0"/>
              <a:t>達成後もスコアを高い位置でキープ</a:t>
            </a:r>
            <a:endParaRPr kumimoji="1" lang="en-US" altLang="ja-JP" dirty="0"/>
          </a:p>
          <a:p>
            <a:pPr marL="0" indent="0">
              <a:buNone/>
            </a:pPr>
            <a:r>
              <a:rPr lang="ja-JP" altLang="en-US" dirty="0"/>
              <a:t>→ </a:t>
            </a:r>
            <a:r>
              <a:rPr lang="ja-JP" altLang="en-US" dirty="0">
                <a:solidFill>
                  <a:srgbClr val="C00000"/>
                </a:solidFill>
              </a:rPr>
              <a:t>試行錯誤の繰り返しで、最適コントロールが可能である</a:t>
            </a:r>
            <a:endParaRPr kumimoji="1" lang="ja-JP" altLang="en-US" dirty="0">
              <a:solidFill>
                <a:srgbClr val="C00000"/>
              </a:solidFill>
            </a:endParaRPr>
          </a:p>
        </p:txBody>
      </p:sp>
      <p:sp>
        <p:nvSpPr>
          <p:cNvPr id="4" name="スライド番号プレースホルダー 3">
            <a:extLst>
              <a:ext uri="{FF2B5EF4-FFF2-40B4-BE49-F238E27FC236}">
                <a16:creationId xmlns:a16="http://schemas.microsoft.com/office/drawing/2014/main" id="{9B413313-A0C7-DDE5-7135-E99AA92C7AFC}"/>
              </a:ext>
            </a:extLst>
          </p:cNvPr>
          <p:cNvSpPr>
            <a:spLocks noGrp="1"/>
          </p:cNvSpPr>
          <p:nvPr>
            <p:ph type="sldNum" sz="quarter" idx="12"/>
          </p:nvPr>
        </p:nvSpPr>
        <p:spPr/>
        <p:txBody>
          <a:bodyPr/>
          <a:lstStyle/>
          <a:p>
            <a:fld id="{F60111BC-1026-41FD-925F-FB719F33286F}" type="slidenum">
              <a:rPr lang="ja-JP" altLang="en-US" smtClean="0"/>
              <a:pPr/>
              <a:t>7</a:t>
            </a:fld>
            <a:endParaRPr lang="ja-JP" altLang="en-US"/>
          </a:p>
        </p:txBody>
      </p:sp>
      <p:sp>
        <p:nvSpPr>
          <p:cNvPr id="5" name="コンテンツ プレースホルダー 2">
            <a:extLst>
              <a:ext uri="{FF2B5EF4-FFF2-40B4-BE49-F238E27FC236}">
                <a16:creationId xmlns:a16="http://schemas.microsoft.com/office/drawing/2014/main" id="{B847CCD7-F8B5-F542-E3B7-0E41E9F82E2A}"/>
              </a:ext>
            </a:extLst>
          </p:cNvPr>
          <p:cNvSpPr txBox="1">
            <a:spLocks/>
          </p:cNvSpPr>
          <p:nvPr/>
        </p:nvSpPr>
        <p:spPr>
          <a:xfrm>
            <a:off x="6347793" y="1114816"/>
            <a:ext cx="5626569" cy="523527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buFont typeface="Wingdings" panose="05000000000000000000" pitchFamily="2" charset="2"/>
              <a:buChar char="n"/>
            </a:pPr>
            <a:r>
              <a:rPr lang="en-US" altLang="ja-JP" b="1" dirty="0"/>
              <a:t>THD(</a:t>
            </a:r>
            <a:r>
              <a:rPr lang="ja-JP" altLang="en-US" b="1" dirty="0"/>
              <a:t>ノイズ</a:t>
            </a:r>
            <a:r>
              <a:rPr lang="en-US" altLang="ja-JP" b="1" dirty="0"/>
              <a:t>)</a:t>
            </a:r>
            <a:r>
              <a:rPr lang="ja-JP" altLang="en-US" b="1" dirty="0"/>
              <a:t>品質</a:t>
            </a:r>
            <a:endParaRPr lang="en-US" altLang="ja-JP" b="1" dirty="0"/>
          </a:p>
          <a:p>
            <a:pPr>
              <a:buFont typeface="Wingdings" panose="05000000000000000000" pitchFamily="2" charset="2"/>
              <a:buChar char="ü"/>
            </a:pPr>
            <a:r>
              <a:rPr lang="en-US" altLang="ja-JP" dirty="0"/>
              <a:t>PI</a:t>
            </a:r>
            <a:r>
              <a:rPr lang="ja-JP" altLang="en-US" dirty="0"/>
              <a:t>制御：</a:t>
            </a:r>
            <a:r>
              <a:rPr lang="en-US" altLang="ja-JP" dirty="0"/>
              <a:t>1.41%</a:t>
            </a:r>
          </a:p>
          <a:p>
            <a:pPr>
              <a:buFont typeface="Wingdings" panose="05000000000000000000" pitchFamily="2" charset="2"/>
              <a:buChar char="ü"/>
            </a:pPr>
            <a:r>
              <a:rPr lang="en-US" altLang="ja-JP" dirty="0"/>
              <a:t>DDPG</a:t>
            </a:r>
            <a:r>
              <a:rPr lang="ja-JP" altLang="en-US" dirty="0"/>
              <a:t>：</a:t>
            </a:r>
            <a:r>
              <a:rPr lang="en-US" altLang="ja-JP" dirty="0"/>
              <a:t>0.74%</a:t>
            </a:r>
          </a:p>
          <a:p>
            <a:pPr marL="0" indent="0">
              <a:buNone/>
            </a:pPr>
            <a:r>
              <a:rPr lang="ja-JP" altLang="en-US" dirty="0"/>
              <a:t>→ </a:t>
            </a:r>
            <a:r>
              <a:rPr lang="en-US" altLang="ja-JP" dirty="0">
                <a:solidFill>
                  <a:srgbClr val="C00000"/>
                </a:solidFill>
              </a:rPr>
              <a:t>AI</a:t>
            </a:r>
            <a:r>
              <a:rPr lang="ja-JP" altLang="en-US" dirty="0">
                <a:solidFill>
                  <a:srgbClr val="C00000"/>
                </a:solidFill>
              </a:rPr>
              <a:t>制御で、</a:t>
            </a:r>
            <a:r>
              <a:rPr lang="en-US" altLang="ja-JP" dirty="0">
                <a:solidFill>
                  <a:srgbClr val="C00000"/>
                </a:solidFill>
              </a:rPr>
              <a:t>PI</a:t>
            </a:r>
            <a:r>
              <a:rPr lang="ja-JP" altLang="en-US" dirty="0">
                <a:solidFill>
                  <a:srgbClr val="C00000"/>
                </a:solidFill>
              </a:rPr>
              <a:t>制御より高品質で安定した電力を供給できる</a:t>
            </a:r>
            <a:endParaRPr lang="en-US" altLang="ja-JP" dirty="0">
              <a:solidFill>
                <a:srgbClr val="C00000"/>
              </a:solidFill>
            </a:endParaRPr>
          </a:p>
          <a:p>
            <a:pPr>
              <a:buFont typeface="Wingdings" panose="05000000000000000000" pitchFamily="2" charset="2"/>
              <a:buChar char="n"/>
            </a:pPr>
            <a:endParaRPr lang="ja-JP" altLang="en-US" dirty="0"/>
          </a:p>
        </p:txBody>
      </p:sp>
      <p:pic>
        <p:nvPicPr>
          <p:cNvPr id="7" name="図 6">
            <a:extLst>
              <a:ext uri="{FF2B5EF4-FFF2-40B4-BE49-F238E27FC236}">
                <a16:creationId xmlns:a16="http://schemas.microsoft.com/office/drawing/2014/main" id="{2D093FF6-E07E-BB8A-CF51-4F0301952DB1}"/>
              </a:ext>
            </a:extLst>
          </p:cNvPr>
          <p:cNvPicPr>
            <a:picLocks noChangeAspect="1"/>
          </p:cNvPicPr>
          <p:nvPr/>
        </p:nvPicPr>
        <p:blipFill>
          <a:blip r:embed="rId2"/>
          <a:stretch>
            <a:fillRect/>
          </a:stretch>
        </p:blipFill>
        <p:spPr>
          <a:xfrm>
            <a:off x="217638" y="3370916"/>
            <a:ext cx="3986552" cy="2979172"/>
          </a:xfrm>
          <a:prstGeom prst="rect">
            <a:avLst/>
          </a:prstGeom>
        </p:spPr>
      </p:pic>
      <p:pic>
        <p:nvPicPr>
          <p:cNvPr id="9" name="図 8">
            <a:extLst>
              <a:ext uri="{FF2B5EF4-FFF2-40B4-BE49-F238E27FC236}">
                <a16:creationId xmlns:a16="http://schemas.microsoft.com/office/drawing/2014/main" id="{6D26383F-DF24-E4F6-9136-5B272228AA2D}"/>
              </a:ext>
            </a:extLst>
          </p:cNvPr>
          <p:cNvPicPr>
            <a:picLocks noChangeAspect="1"/>
          </p:cNvPicPr>
          <p:nvPr/>
        </p:nvPicPr>
        <p:blipFill>
          <a:blip r:embed="rId3"/>
          <a:stretch>
            <a:fillRect/>
          </a:stretch>
        </p:blipFill>
        <p:spPr>
          <a:xfrm>
            <a:off x="4372019" y="3501803"/>
            <a:ext cx="3700317" cy="2291315"/>
          </a:xfrm>
          <a:prstGeom prst="rect">
            <a:avLst/>
          </a:prstGeom>
        </p:spPr>
      </p:pic>
      <p:pic>
        <p:nvPicPr>
          <p:cNvPr id="11" name="図 10">
            <a:extLst>
              <a:ext uri="{FF2B5EF4-FFF2-40B4-BE49-F238E27FC236}">
                <a16:creationId xmlns:a16="http://schemas.microsoft.com/office/drawing/2014/main" id="{E73F4597-CF7E-FBCE-5A6E-4DAF4A01DD35}"/>
              </a:ext>
            </a:extLst>
          </p:cNvPr>
          <p:cNvPicPr>
            <a:picLocks noChangeAspect="1"/>
          </p:cNvPicPr>
          <p:nvPr/>
        </p:nvPicPr>
        <p:blipFill>
          <a:blip r:embed="rId4"/>
          <a:stretch>
            <a:fillRect/>
          </a:stretch>
        </p:blipFill>
        <p:spPr>
          <a:xfrm>
            <a:off x="8144490" y="3475102"/>
            <a:ext cx="3700317" cy="2268082"/>
          </a:xfrm>
          <a:prstGeom prst="rect">
            <a:avLst/>
          </a:prstGeom>
        </p:spPr>
      </p:pic>
      <p:sp>
        <p:nvSpPr>
          <p:cNvPr id="12" name="楕円 11">
            <a:extLst>
              <a:ext uri="{FF2B5EF4-FFF2-40B4-BE49-F238E27FC236}">
                <a16:creationId xmlns:a16="http://schemas.microsoft.com/office/drawing/2014/main" id="{3E535F07-D21E-6BAB-6FAE-B60044999749}"/>
              </a:ext>
            </a:extLst>
          </p:cNvPr>
          <p:cNvSpPr/>
          <p:nvPr/>
        </p:nvSpPr>
        <p:spPr>
          <a:xfrm>
            <a:off x="8580783" y="4108174"/>
            <a:ext cx="1570382" cy="1358348"/>
          </a:xfrm>
          <a:prstGeom prst="ellipse">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テキスト ボックス 12">
            <a:extLst>
              <a:ext uri="{FF2B5EF4-FFF2-40B4-BE49-F238E27FC236}">
                <a16:creationId xmlns:a16="http://schemas.microsoft.com/office/drawing/2014/main" id="{570E3F4D-FB21-401B-CC56-1B9B76184C11}"/>
              </a:ext>
            </a:extLst>
          </p:cNvPr>
          <p:cNvSpPr txBox="1"/>
          <p:nvPr/>
        </p:nvSpPr>
        <p:spPr>
          <a:xfrm>
            <a:off x="9712583" y="3923508"/>
            <a:ext cx="1569660" cy="369332"/>
          </a:xfrm>
          <a:prstGeom prst="rect">
            <a:avLst/>
          </a:prstGeom>
          <a:noFill/>
        </p:spPr>
        <p:txBody>
          <a:bodyPr wrap="none" rtlCol="0">
            <a:spAutoFit/>
          </a:bodyPr>
          <a:lstStyle/>
          <a:p>
            <a:r>
              <a:rPr kumimoji="1" lang="ja-JP" altLang="en-US" dirty="0">
                <a:solidFill>
                  <a:srgbClr val="C00000"/>
                </a:solidFill>
              </a:rPr>
              <a:t>ノイズが多い</a:t>
            </a:r>
          </a:p>
        </p:txBody>
      </p:sp>
    </p:spTree>
    <p:extLst>
      <p:ext uri="{BB962C8B-B14F-4D97-AF65-F5344CB8AC3E}">
        <p14:creationId xmlns:p14="http://schemas.microsoft.com/office/powerpoint/2010/main" val="36378526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4F3E85-13B6-8BEA-2036-6E0F2E85E404}"/>
            </a:ext>
          </a:extLst>
        </p:cNvPr>
        <p:cNvGrpSpPr/>
        <p:nvPr/>
      </p:nvGrpSpPr>
      <p:grpSpPr>
        <a:xfrm>
          <a:off x="0" y="0"/>
          <a:ext cx="0" cy="0"/>
          <a:chOff x="0" y="0"/>
          <a:chExt cx="0" cy="0"/>
        </a:xfrm>
      </p:grpSpPr>
      <p:pic>
        <p:nvPicPr>
          <p:cNvPr id="14" name="図 13">
            <a:extLst>
              <a:ext uri="{FF2B5EF4-FFF2-40B4-BE49-F238E27FC236}">
                <a16:creationId xmlns:a16="http://schemas.microsoft.com/office/drawing/2014/main" id="{339AA55F-AD9C-90F4-713F-45D0C625F1CB}"/>
              </a:ext>
            </a:extLst>
          </p:cNvPr>
          <p:cNvPicPr>
            <a:picLocks noChangeAspect="1"/>
          </p:cNvPicPr>
          <p:nvPr/>
        </p:nvPicPr>
        <p:blipFill>
          <a:blip r:embed="rId2"/>
          <a:stretch>
            <a:fillRect/>
          </a:stretch>
        </p:blipFill>
        <p:spPr>
          <a:xfrm>
            <a:off x="8004063" y="1001684"/>
            <a:ext cx="3970298" cy="2227848"/>
          </a:xfrm>
          <a:prstGeom prst="rect">
            <a:avLst/>
          </a:prstGeom>
        </p:spPr>
      </p:pic>
      <p:sp>
        <p:nvSpPr>
          <p:cNvPr id="2" name="タイトル 1">
            <a:extLst>
              <a:ext uri="{FF2B5EF4-FFF2-40B4-BE49-F238E27FC236}">
                <a16:creationId xmlns:a16="http://schemas.microsoft.com/office/drawing/2014/main" id="{956FA29B-616F-8DB6-79D4-F109B78AC1C6}"/>
              </a:ext>
            </a:extLst>
          </p:cNvPr>
          <p:cNvSpPr>
            <a:spLocks noGrp="1"/>
          </p:cNvSpPr>
          <p:nvPr>
            <p:ph type="title"/>
          </p:nvPr>
        </p:nvSpPr>
        <p:spPr/>
        <p:txBody>
          <a:bodyPr/>
          <a:lstStyle/>
          <a:p>
            <a:r>
              <a:rPr lang="en-US" altLang="ja-JP" dirty="0"/>
              <a:t>3. </a:t>
            </a:r>
            <a:r>
              <a:rPr lang="ja-JP" altLang="en-US" dirty="0"/>
              <a:t>シミュレーション結果</a:t>
            </a:r>
            <a:r>
              <a:rPr kumimoji="1" lang="en-US" altLang="ja-JP" dirty="0"/>
              <a:t> </a:t>
            </a:r>
            <a:endParaRPr kumimoji="1" lang="ja-JP" altLang="en-US" dirty="0"/>
          </a:p>
        </p:txBody>
      </p:sp>
      <p:sp>
        <p:nvSpPr>
          <p:cNvPr id="3" name="コンテンツ プレースホルダー 2">
            <a:extLst>
              <a:ext uri="{FF2B5EF4-FFF2-40B4-BE49-F238E27FC236}">
                <a16:creationId xmlns:a16="http://schemas.microsoft.com/office/drawing/2014/main" id="{1CAF31C0-0C9D-1A88-D968-9E2B2361CB0A}"/>
              </a:ext>
            </a:extLst>
          </p:cNvPr>
          <p:cNvSpPr>
            <a:spLocks noGrp="1"/>
          </p:cNvSpPr>
          <p:nvPr>
            <p:ph idx="1"/>
          </p:nvPr>
        </p:nvSpPr>
        <p:spPr>
          <a:xfrm>
            <a:off x="217640" y="1114816"/>
            <a:ext cx="3850777" cy="5235272"/>
          </a:xfrm>
        </p:spPr>
        <p:txBody>
          <a:bodyPr/>
          <a:lstStyle/>
          <a:p>
            <a:pPr>
              <a:buFont typeface="Wingdings" panose="05000000000000000000" pitchFamily="2" charset="2"/>
              <a:buChar char="n"/>
            </a:pPr>
            <a:r>
              <a:rPr lang="ja-JP" altLang="en-US" b="1" dirty="0"/>
              <a:t>オーバーシュートとリップル</a:t>
            </a:r>
            <a:endParaRPr kumimoji="1" lang="en-US" altLang="ja-JP" b="1" dirty="0"/>
          </a:p>
          <a:p>
            <a:pPr>
              <a:buFont typeface="Wingdings" panose="05000000000000000000" pitchFamily="2" charset="2"/>
              <a:buChar char="ü"/>
            </a:pPr>
            <a:r>
              <a:rPr kumimoji="1" lang="ja-JP" altLang="en-US" dirty="0"/>
              <a:t>オーバーシュートは、</a:t>
            </a:r>
            <a:r>
              <a:rPr kumimoji="1" lang="en-US" altLang="ja-JP" dirty="0"/>
              <a:t>DDPG</a:t>
            </a:r>
            <a:r>
              <a:rPr kumimoji="1" lang="ja-JP" altLang="en-US" dirty="0"/>
              <a:t>は</a:t>
            </a:r>
            <a:r>
              <a:rPr kumimoji="1" lang="en-US" altLang="ja-JP" dirty="0"/>
              <a:t>8%</a:t>
            </a:r>
            <a:r>
              <a:rPr kumimoji="1" lang="ja-JP" altLang="en-US" dirty="0"/>
              <a:t>、</a:t>
            </a:r>
            <a:r>
              <a:rPr kumimoji="1" lang="en-US" altLang="ja-JP" dirty="0"/>
              <a:t>PI</a:t>
            </a:r>
            <a:r>
              <a:rPr kumimoji="1" lang="ja-JP" altLang="en-US" dirty="0"/>
              <a:t>制御は</a:t>
            </a:r>
            <a:r>
              <a:rPr kumimoji="1" lang="en-US" altLang="ja-JP" dirty="0"/>
              <a:t>35%</a:t>
            </a:r>
            <a:endParaRPr lang="en-US" altLang="ja-JP" dirty="0"/>
          </a:p>
          <a:p>
            <a:pPr>
              <a:buFont typeface="Wingdings" panose="05000000000000000000" pitchFamily="2" charset="2"/>
              <a:buChar char="ü"/>
            </a:pPr>
            <a:r>
              <a:rPr kumimoji="1" lang="en-US" altLang="ja-JP" dirty="0"/>
              <a:t>P</a:t>
            </a:r>
            <a:r>
              <a:rPr lang="en-US" altLang="ja-JP" dirty="0"/>
              <a:t>I</a:t>
            </a:r>
            <a:r>
              <a:rPr lang="ja-JP" altLang="en-US" dirty="0"/>
              <a:t>制御はリップル発生</a:t>
            </a:r>
            <a:endParaRPr lang="en-US" altLang="ja-JP" dirty="0"/>
          </a:p>
          <a:p>
            <a:pPr marL="0" indent="0">
              <a:buNone/>
            </a:pPr>
            <a:r>
              <a:rPr kumimoji="1" lang="ja-JP" altLang="en-US" dirty="0"/>
              <a:t>→ </a:t>
            </a:r>
            <a:r>
              <a:rPr kumimoji="1" lang="en-US" altLang="ja-JP" dirty="0">
                <a:solidFill>
                  <a:srgbClr val="C00000"/>
                </a:solidFill>
              </a:rPr>
              <a:t>AI</a:t>
            </a:r>
            <a:r>
              <a:rPr kumimoji="1" lang="ja-JP" altLang="en-US" dirty="0">
                <a:solidFill>
                  <a:srgbClr val="C00000"/>
                </a:solidFill>
              </a:rPr>
              <a:t>制御は、目標値に素早く・正確に到達し、リップルが少ない</a:t>
            </a:r>
            <a:endParaRPr kumimoji="1" lang="en-US" altLang="ja-JP" dirty="0">
              <a:solidFill>
                <a:srgbClr val="C00000"/>
              </a:solidFill>
            </a:endParaRPr>
          </a:p>
          <a:p>
            <a:pPr marL="0" indent="0">
              <a:buNone/>
            </a:pPr>
            <a:endParaRPr lang="en-US" altLang="ja-JP" dirty="0">
              <a:solidFill>
                <a:srgbClr val="C00000"/>
              </a:solidFill>
            </a:endParaRPr>
          </a:p>
          <a:p>
            <a:pPr>
              <a:buFont typeface="Wingdings" panose="05000000000000000000" pitchFamily="2" charset="2"/>
              <a:buChar char="n"/>
            </a:pPr>
            <a:r>
              <a:rPr kumimoji="1" lang="ja-JP" altLang="en-US" b="1" dirty="0"/>
              <a:t>過渡期間中の応答</a:t>
            </a:r>
            <a:endParaRPr kumimoji="1" lang="en-US" altLang="ja-JP" b="1" dirty="0"/>
          </a:p>
          <a:p>
            <a:pPr marL="0" indent="0">
              <a:buNone/>
            </a:pPr>
            <a:r>
              <a:rPr lang="en-US" altLang="ja-JP" dirty="0">
                <a:solidFill>
                  <a:srgbClr val="C00000"/>
                </a:solidFill>
              </a:rPr>
              <a:t>AI</a:t>
            </a:r>
            <a:r>
              <a:rPr lang="ja-JP" altLang="en-US" dirty="0">
                <a:solidFill>
                  <a:srgbClr val="C00000"/>
                </a:solidFill>
              </a:rPr>
              <a:t>制御の方が、三相交流の波形としても乱れが少なくスムーズに変化</a:t>
            </a:r>
            <a:endParaRPr kumimoji="1" lang="en-US" altLang="ja-JP" dirty="0">
              <a:solidFill>
                <a:srgbClr val="C00000"/>
              </a:solidFill>
            </a:endParaRPr>
          </a:p>
        </p:txBody>
      </p:sp>
      <p:sp>
        <p:nvSpPr>
          <p:cNvPr id="4" name="スライド番号プレースホルダー 3">
            <a:extLst>
              <a:ext uri="{FF2B5EF4-FFF2-40B4-BE49-F238E27FC236}">
                <a16:creationId xmlns:a16="http://schemas.microsoft.com/office/drawing/2014/main" id="{72E91875-830E-EE8C-AC60-118A5DFB7ABD}"/>
              </a:ext>
            </a:extLst>
          </p:cNvPr>
          <p:cNvSpPr>
            <a:spLocks noGrp="1"/>
          </p:cNvSpPr>
          <p:nvPr>
            <p:ph type="sldNum" sz="quarter" idx="12"/>
          </p:nvPr>
        </p:nvSpPr>
        <p:spPr/>
        <p:txBody>
          <a:bodyPr/>
          <a:lstStyle/>
          <a:p>
            <a:fld id="{F60111BC-1026-41FD-925F-FB719F33286F}" type="slidenum">
              <a:rPr lang="ja-JP" altLang="en-US" smtClean="0"/>
              <a:pPr/>
              <a:t>8</a:t>
            </a:fld>
            <a:endParaRPr lang="ja-JP" altLang="en-US"/>
          </a:p>
        </p:txBody>
      </p:sp>
      <p:sp>
        <p:nvSpPr>
          <p:cNvPr id="12" name="楕円 11">
            <a:extLst>
              <a:ext uri="{FF2B5EF4-FFF2-40B4-BE49-F238E27FC236}">
                <a16:creationId xmlns:a16="http://schemas.microsoft.com/office/drawing/2014/main" id="{6EDA8E45-0D33-1900-0F36-5F37DF6B2E0F}"/>
              </a:ext>
            </a:extLst>
          </p:cNvPr>
          <p:cNvSpPr/>
          <p:nvPr/>
        </p:nvSpPr>
        <p:spPr>
          <a:xfrm>
            <a:off x="9989212" y="1721388"/>
            <a:ext cx="1570382" cy="714752"/>
          </a:xfrm>
          <a:prstGeom prst="ellipse">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テキスト ボックス 12">
            <a:extLst>
              <a:ext uri="{FF2B5EF4-FFF2-40B4-BE49-F238E27FC236}">
                <a16:creationId xmlns:a16="http://schemas.microsoft.com/office/drawing/2014/main" id="{EF5E5E03-AFCF-D697-551E-8979631AEC82}"/>
              </a:ext>
            </a:extLst>
          </p:cNvPr>
          <p:cNvSpPr txBox="1"/>
          <p:nvPr/>
        </p:nvSpPr>
        <p:spPr>
          <a:xfrm>
            <a:off x="11235756" y="1564930"/>
            <a:ext cx="1021677" cy="338554"/>
          </a:xfrm>
          <a:prstGeom prst="rect">
            <a:avLst/>
          </a:prstGeom>
          <a:noFill/>
        </p:spPr>
        <p:txBody>
          <a:bodyPr wrap="square" rtlCol="0">
            <a:spAutoFit/>
          </a:bodyPr>
          <a:lstStyle/>
          <a:p>
            <a:r>
              <a:rPr kumimoji="1" lang="ja-JP" altLang="en-US" sz="1600" dirty="0">
                <a:solidFill>
                  <a:srgbClr val="C00000"/>
                </a:solidFill>
              </a:rPr>
              <a:t>リップル</a:t>
            </a:r>
          </a:p>
        </p:txBody>
      </p:sp>
      <p:pic>
        <p:nvPicPr>
          <p:cNvPr id="8" name="図 7">
            <a:extLst>
              <a:ext uri="{FF2B5EF4-FFF2-40B4-BE49-F238E27FC236}">
                <a16:creationId xmlns:a16="http://schemas.microsoft.com/office/drawing/2014/main" id="{C410CFEC-8524-491F-174D-2C889DBBE0BC}"/>
              </a:ext>
            </a:extLst>
          </p:cNvPr>
          <p:cNvPicPr>
            <a:picLocks noChangeAspect="1"/>
          </p:cNvPicPr>
          <p:nvPr/>
        </p:nvPicPr>
        <p:blipFill>
          <a:blip r:embed="rId3"/>
          <a:stretch>
            <a:fillRect/>
          </a:stretch>
        </p:blipFill>
        <p:spPr>
          <a:xfrm>
            <a:off x="3996969" y="1001684"/>
            <a:ext cx="3970297" cy="2155481"/>
          </a:xfrm>
          <a:prstGeom prst="rect">
            <a:avLst/>
          </a:prstGeom>
        </p:spPr>
      </p:pic>
      <p:pic>
        <p:nvPicPr>
          <p:cNvPr id="16" name="図 15">
            <a:extLst>
              <a:ext uri="{FF2B5EF4-FFF2-40B4-BE49-F238E27FC236}">
                <a16:creationId xmlns:a16="http://schemas.microsoft.com/office/drawing/2014/main" id="{A7865CE6-FDB2-BC65-1DD7-4D4094D3CC3F}"/>
              </a:ext>
            </a:extLst>
          </p:cNvPr>
          <p:cNvPicPr>
            <a:picLocks noChangeAspect="1"/>
          </p:cNvPicPr>
          <p:nvPr/>
        </p:nvPicPr>
        <p:blipFill>
          <a:blip r:embed="rId4"/>
          <a:stretch>
            <a:fillRect/>
          </a:stretch>
        </p:blipFill>
        <p:spPr>
          <a:xfrm>
            <a:off x="4077366" y="3853657"/>
            <a:ext cx="3926697" cy="2155481"/>
          </a:xfrm>
          <a:prstGeom prst="rect">
            <a:avLst/>
          </a:prstGeom>
        </p:spPr>
      </p:pic>
      <p:pic>
        <p:nvPicPr>
          <p:cNvPr id="18" name="図 17">
            <a:extLst>
              <a:ext uri="{FF2B5EF4-FFF2-40B4-BE49-F238E27FC236}">
                <a16:creationId xmlns:a16="http://schemas.microsoft.com/office/drawing/2014/main" id="{A5E39549-8972-DF3A-426D-D2DAD5F35008}"/>
              </a:ext>
            </a:extLst>
          </p:cNvPr>
          <p:cNvPicPr>
            <a:picLocks noChangeAspect="1"/>
          </p:cNvPicPr>
          <p:nvPr/>
        </p:nvPicPr>
        <p:blipFill>
          <a:blip r:embed="rId5"/>
          <a:stretch>
            <a:fillRect/>
          </a:stretch>
        </p:blipFill>
        <p:spPr>
          <a:xfrm>
            <a:off x="8076352" y="3853657"/>
            <a:ext cx="3970298" cy="2215839"/>
          </a:xfrm>
          <a:prstGeom prst="rect">
            <a:avLst/>
          </a:prstGeom>
        </p:spPr>
      </p:pic>
      <p:sp>
        <p:nvSpPr>
          <p:cNvPr id="19" name="楕円 18">
            <a:extLst>
              <a:ext uri="{FF2B5EF4-FFF2-40B4-BE49-F238E27FC236}">
                <a16:creationId xmlns:a16="http://schemas.microsoft.com/office/drawing/2014/main" id="{6026AA5B-9E01-7DEC-D91F-FE9226DA6AB4}"/>
              </a:ext>
            </a:extLst>
          </p:cNvPr>
          <p:cNvSpPr/>
          <p:nvPr/>
        </p:nvSpPr>
        <p:spPr>
          <a:xfrm>
            <a:off x="8792872" y="4106448"/>
            <a:ext cx="602588" cy="1341852"/>
          </a:xfrm>
          <a:prstGeom prst="ellipse">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テキスト ボックス 19">
            <a:extLst>
              <a:ext uri="{FF2B5EF4-FFF2-40B4-BE49-F238E27FC236}">
                <a16:creationId xmlns:a16="http://schemas.microsoft.com/office/drawing/2014/main" id="{2E6624AB-DE8C-D44D-B85C-AD40DA91FA7E}"/>
              </a:ext>
            </a:extLst>
          </p:cNvPr>
          <p:cNvSpPr txBox="1"/>
          <p:nvPr/>
        </p:nvSpPr>
        <p:spPr>
          <a:xfrm>
            <a:off x="8735727" y="3767894"/>
            <a:ext cx="865473" cy="338554"/>
          </a:xfrm>
          <a:prstGeom prst="rect">
            <a:avLst/>
          </a:prstGeom>
          <a:noFill/>
        </p:spPr>
        <p:txBody>
          <a:bodyPr wrap="square" rtlCol="0">
            <a:spAutoFit/>
          </a:bodyPr>
          <a:lstStyle/>
          <a:p>
            <a:r>
              <a:rPr kumimoji="1" lang="ja-JP" altLang="en-US" sz="1600" dirty="0">
                <a:solidFill>
                  <a:srgbClr val="C00000"/>
                </a:solidFill>
              </a:rPr>
              <a:t>不安定</a:t>
            </a:r>
          </a:p>
        </p:txBody>
      </p:sp>
      <p:sp>
        <p:nvSpPr>
          <p:cNvPr id="21" name="楕円 20">
            <a:extLst>
              <a:ext uri="{FF2B5EF4-FFF2-40B4-BE49-F238E27FC236}">
                <a16:creationId xmlns:a16="http://schemas.microsoft.com/office/drawing/2014/main" id="{1ABBF03B-7CB7-D3A9-9A8F-AFF354A69F05}"/>
              </a:ext>
            </a:extLst>
          </p:cNvPr>
          <p:cNvSpPr/>
          <p:nvPr/>
        </p:nvSpPr>
        <p:spPr>
          <a:xfrm>
            <a:off x="4858405" y="4106448"/>
            <a:ext cx="602588" cy="1341852"/>
          </a:xfrm>
          <a:prstGeom prst="ellipse">
            <a:avLst/>
          </a:prstGeom>
          <a:noFill/>
          <a:ln w="28575">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テキスト ボックス 21">
            <a:extLst>
              <a:ext uri="{FF2B5EF4-FFF2-40B4-BE49-F238E27FC236}">
                <a16:creationId xmlns:a16="http://schemas.microsoft.com/office/drawing/2014/main" id="{06B590A0-57B0-B185-ADFA-135149A9C1CF}"/>
              </a:ext>
            </a:extLst>
          </p:cNvPr>
          <p:cNvSpPr txBox="1"/>
          <p:nvPr/>
        </p:nvSpPr>
        <p:spPr>
          <a:xfrm>
            <a:off x="4801261" y="3767894"/>
            <a:ext cx="623902" cy="338554"/>
          </a:xfrm>
          <a:prstGeom prst="rect">
            <a:avLst/>
          </a:prstGeom>
          <a:noFill/>
        </p:spPr>
        <p:txBody>
          <a:bodyPr wrap="square" rtlCol="0">
            <a:spAutoFit/>
          </a:bodyPr>
          <a:lstStyle/>
          <a:p>
            <a:r>
              <a:rPr kumimoji="1" lang="ja-JP" altLang="en-US" sz="1600" dirty="0">
                <a:solidFill>
                  <a:schemeClr val="tx2">
                    <a:lumMod val="75000"/>
                    <a:lumOff val="25000"/>
                  </a:schemeClr>
                </a:solidFill>
              </a:rPr>
              <a:t>安定</a:t>
            </a:r>
          </a:p>
        </p:txBody>
      </p:sp>
    </p:spTree>
    <p:extLst>
      <p:ext uri="{BB962C8B-B14F-4D97-AF65-F5344CB8AC3E}">
        <p14:creationId xmlns:p14="http://schemas.microsoft.com/office/powerpoint/2010/main" val="24241212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07AF9A6-C415-2F36-A5DF-093815C20645}"/>
              </a:ext>
            </a:extLst>
          </p:cNvPr>
          <p:cNvSpPr>
            <a:spLocks noGrp="1"/>
          </p:cNvSpPr>
          <p:nvPr>
            <p:ph type="title"/>
          </p:nvPr>
        </p:nvSpPr>
        <p:spPr/>
        <p:txBody>
          <a:bodyPr/>
          <a:lstStyle/>
          <a:p>
            <a:r>
              <a:rPr kumimoji="1" lang="en-US" altLang="ja-JP" dirty="0"/>
              <a:t>4. </a:t>
            </a:r>
            <a:r>
              <a:rPr kumimoji="1" lang="ja-JP" altLang="en-US" dirty="0"/>
              <a:t>論文評価</a:t>
            </a:r>
          </a:p>
        </p:txBody>
      </p:sp>
      <p:sp>
        <p:nvSpPr>
          <p:cNvPr id="3" name="コンテンツ プレースホルダー 2">
            <a:extLst>
              <a:ext uri="{FF2B5EF4-FFF2-40B4-BE49-F238E27FC236}">
                <a16:creationId xmlns:a16="http://schemas.microsoft.com/office/drawing/2014/main" id="{D1445F3D-A469-43E3-9F1E-381BDA709829}"/>
              </a:ext>
            </a:extLst>
          </p:cNvPr>
          <p:cNvSpPr>
            <a:spLocks noGrp="1"/>
          </p:cNvSpPr>
          <p:nvPr>
            <p:ph idx="1"/>
          </p:nvPr>
        </p:nvSpPr>
        <p:spPr>
          <a:xfrm>
            <a:off x="217640" y="1114816"/>
            <a:ext cx="5535460" cy="5235272"/>
          </a:xfrm>
        </p:spPr>
        <p:txBody>
          <a:bodyPr/>
          <a:lstStyle/>
          <a:p>
            <a:pPr>
              <a:buFont typeface="Wingdings" panose="05000000000000000000" pitchFamily="2" charset="2"/>
              <a:buChar char="n"/>
            </a:pPr>
            <a:r>
              <a:rPr kumimoji="1" lang="en-US" altLang="ja-JP" b="1" dirty="0"/>
              <a:t>DDPG</a:t>
            </a:r>
            <a:r>
              <a:rPr kumimoji="1" lang="ja-JP" altLang="en-US" b="1" dirty="0"/>
              <a:t>制御は本当に優れているのか？</a:t>
            </a:r>
            <a:endParaRPr kumimoji="1" lang="en-US" altLang="ja-JP" b="1" dirty="0"/>
          </a:p>
          <a:p>
            <a:pPr>
              <a:buFont typeface="Wingdings" panose="05000000000000000000" pitchFamily="2" charset="2"/>
              <a:buChar char="Ø"/>
            </a:pPr>
            <a:r>
              <a:rPr kumimoji="1" lang="en-US" altLang="ja-JP" dirty="0"/>
              <a:t>PI</a:t>
            </a:r>
            <a:r>
              <a:rPr kumimoji="1" lang="ja-JP" altLang="en-US" dirty="0"/>
              <a:t>制御に比べて、</a:t>
            </a:r>
            <a:r>
              <a:rPr lang="ja-JP" altLang="en-US" dirty="0"/>
              <a:t>電力品質</a:t>
            </a:r>
            <a:r>
              <a:rPr kumimoji="1" lang="ja-JP" altLang="en-US" dirty="0"/>
              <a:t>はとても良い</a:t>
            </a:r>
            <a:endParaRPr kumimoji="1" lang="en-US" altLang="ja-JP" dirty="0"/>
          </a:p>
          <a:p>
            <a:pPr>
              <a:buFont typeface="Wingdings" panose="05000000000000000000" pitchFamily="2" charset="2"/>
              <a:buChar char="Ø"/>
            </a:pPr>
            <a:r>
              <a:rPr lang="ja-JP" altLang="en-US" dirty="0"/>
              <a:t>モデルフリーなので、正確な数式モデルを事前に構築する手間を省ける</a:t>
            </a:r>
            <a:endParaRPr lang="en-US" altLang="ja-JP" dirty="0"/>
          </a:p>
          <a:p>
            <a:pPr>
              <a:buFont typeface="Wingdings" panose="05000000000000000000" pitchFamily="2" charset="2"/>
              <a:buChar char="Ø"/>
            </a:pPr>
            <a:endParaRPr kumimoji="1" lang="en-US" altLang="ja-JP" dirty="0"/>
          </a:p>
          <a:p>
            <a:pPr marL="0" indent="0">
              <a:buNone/>
            </a:pPr>
            <a:endParaRPr lang="en-US" altLang="ja-JP" dirty="0"/>
          </a:p>
          <a:p>
            <a:r>
              <a:rPr lang="ja-JP" altLang="en-US" dirty="0">
                <a:solidFill>
                  <a:schemeClr val="tx2">
                    <a:lumMod val="75000"/>
                    <a:lumOff val="25000"/>
                  </a:schemeClr>
                </a:solidFill>
              </a:rPr>
              <a:t>安全面の不安</a:t>
            </a:r>
            <a:endParaRPr lang="en-US" altLang="ja-JP" dirty="0">
              <a:solidFill>
                <a:schemeClr val="tx2">
                  <a:lumMod val="75000"/>
                  <a:lumOff val="25000"/>
                </a:schemeClr>
              </a:solidFill>
            </a:endParaRPr>
          </a:p>
          <a:p>
            <a:pPr marL="0" indent="0">
              <a:buNone/>
            </a:pPr>
            <a:r>
              <a:rPr lang="ja-JP" altLang="en-US" dirty="0"/>
              <a:t>中身はブラックボックスなので数学による理論的安定性保障に劣るのではないか？</a:t>
            </a:r>
            <a:endParaRPr lang="en-US" altLang="ja-JP" dirty="0"/>
          </a:p>
          <a:p>
            <a:r>
              <a:rPr lang="ja-JP" altLang="en-US" dirty="0">
                <a:solidFill>
                  <a:schemeClr val="tx2">
                    <a:lumMod val="75000"/>
                    <a:lumOff val="25000"/>
                  </a:schemeClr>
                </a:solidFill>
              </a:rPr>
              <a:t>本当にモデルフリーなのか</a:t>
            </a:r>
            <a:endParaRPr lang="en-US" altLang="ja-JP" dirty="0">
              <a:solidFill>
                <a:schemeClr val="tx2">
                  <a:lumMod val="75000"/>
                  <a:lumOff val="25000"/>
                </a:schemeClr>
              </a:solidFill>
            </a:endParaRPr>
          </a:p>
          <a:p>
            <a:pPr marL="0" indent="0">
              <a:buNone/>
            </a:pPr>
            <a:r>
              <a:rPr lang="ja-JP" altLang="en-US" dirty="0"/>
              <a:t>「制御ゲイン調整」が「報酬関数設計」にすり替わっただけ</a:t>
            </a:r>
            <a:endParaRPr lang="en-US" altLang="ja-JP" dirty="0"/>
          </a:p>
          <a:p>
            <a:pPr marL="0" indent="0">
              <a:buNone/>
            </a:pPr>
            <a:r>
              <a:rPr lang="ja-JP" altLang="en-US" dirty="0"/>
              <a:t>→ 結局、データサイエンティストや専門家の感と経験に依存するのでは？</a:t>
            </a:r>
            <a:endParaRPr lang="en-US" altLang="ja-JP" dirty="0"/>
          </a:p>
          <a:p>
            <a:pPr marL="0" indent="0">
              <a:buNone/>
            </a:pPr>
            <a:endParaRPr lang="en-US" altLang="ja-JP" dirty="0"/>
          </a:p>
        </p:txBody>
      </p:sp>
      <p:sp>
        <p:nvSpPr>
          <p:cNvPr id="4" name="スライド番号プレースホルダー 3">
            <a:extLst>
              <a:ext uri="{FF2B5EF4-FFF2-40B4-BE49-F238E27FC236}">
                <a16:creationId xmlns:a16="http://schemas.microsoft.com/office/drawing/2014/main" id="{487AAE25-DFC2-3082-D501-96D79DE523FA}"/>
              </a:ext>
            </a:extLst>
          </p:cNvPr>
          <p:cNvSpPr>
            <a:spLocks noGrp="1"/>
          </p:cNvSpPr>
          <p:nvPr>
            <p:ph type="sldNum" sz="quarter" idx="12"/>
          </p:nvPr>
        </p:nvSpPr>
        <p:spPr/>
        <p:txBody>
          <a:bodyPr/>
          <a:lstStyle/>
          <a:p>
            <a:fld id="{F60111BC-1026-41FD-925F-FB719F33286F}" type="slidenum">
              <a:rPr lang="ja-JP" altLang="en-US" smtClean="0"/>
              <a:pPr/>
              <a:t>9</a:t>
            </a:fld>
            <a:endParaRPr lang="ja-JP" altLang="en-US"/>
          </a:p>
        </p:txBody>
      </p:sp>
      <p:sp>
        <p:nvSpPr>
          <p:cNvPr id="5" name="コンテンツ プレースホルダー 2">
            <a:extLst>
              <a:ext uri="{FF2B5EF4-FFF2-40B4-BE49-F238E27FC236}">
                <a16:creationId xmlns:a16="http://schemas.microsoft.com/office/drawing/2014/main" id="{32C17792-7732-E83C-D5F2-C2E67C540B22}"/>
              </a:ext>
            </a:extLst>
          </p:cNvPr>
          <p:cNvSpPr txBox="1">
            <a:spLocks/>
          </p:cNvSpPr>
          <p:nvPr/>
        </p:nvSpPr>
        <p:spPr>
          <a:xfrm>
            <a:off x="6438902" y="1114816"/>
            <a:ext cx="5535460" cy="523527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buFont typeface="Wingdings" panose="05000000000000000000" pitchFamily="2" charset="2"/>
              <a:buChar char="n"/>
            </a:pPr>
            <a:r>
              <a:rPr lang="ja-JP" altLang="en-US" b="1" dirty="0"/>
              <a:t>現場への実装の現実</a:t>
            </a:r>
            <a:endParaRPr lang="en-US" altLang="ja-JP" b="1" dirty="0"/>
          </a:p>
          <a:p>
            <a:pPr>
              <a:buFont typeface="Wingdings" panose="05000000000000000000" pitchFamily="2" charset="2"/>
              <a:buChar char="Ø"/>
            </a:pPr>
            <a:r>
              <a:rPr lang="ja-JP" altLang="en-US" dirty="0"/>
              <a:t>深層学習モデルは、</a:t>
            </a:r>
            <a:r>
              <a:rPr lang="ja-JP" altLang="en-US" dirty="0">
                <a:solidFill>
                  <a:srgbClr val="C00000"/>
                </a:solidFill>
              </a:rPr>
              <a:t>複雑な制御を自律的に解決する高いポテンシャルあり</a:t>
            </a:r>
            <a:endParaRPr lang="en-US" altLang="ja-JP" dirty="0">
              <a:solidFill>
                <a:srgbClr val="C00000"/>
              </a:solidFill>
            </a:endParaRPr>
          </a:p>
          <a:p>
            <a:pPr marL="0" indent="0">
              <a:buNone/>
            </a:pPr>
            <a:endParaRPr lang="en-US" altLang="ja-JP" dirty="0"/>
          </a:p>
          <a:p>
            <a:pPr marL="0" indent="0">
              <a:buNone/>
            </a:pPr>
            <a:endParaRPr lang="en-US" altLang="ja-JP" dirty="0"/>
          </a:p>
          <a:p>
            <a:pPr marL="0" indent="0">
              <a:buNone/>
            </a:pPr>
            <a:r>
              <a:rPr lang="ja-JP" altLang="en-US" dirty="0"/>
              <a:t>・リアルタイム計算のためのハードウェアコスト、時間コストを考えると、</a:t>
            </a:r>
            <a:r>
              <a:rPr lang="ja-JP" altLang="en-US" dirty="0">
                <a:solidFill>
                  <a:schemeClr val="tx2">
                    <a:lumMod val="75000"/>
                    <a:lumOff val="25000"/>
                  </a:schemeClr>
                </a:solidFill>
              </a:rPr>
              <a:t>コスト面は既存制御の方が優れている</a:t>
            </a:r>
            <a:endParaRPr lang="en-US" altLang="ja-JP" dirty="0">
              <a:solidFill>
                <a:schemeClr val="tx2">
                  <a:lumMod val="75000"/>
                  <a:lumOff val="25000"/>
                </a:schemeClr>
              </a:solidFill>
            </a:endParaRPr>
          </a:p>
          <a:p>
            <a:pPr marL="0" indent="0">
              <a:buNone/>
            </a:pPr>
            <a:endParaRPr lang="en-US" altLang="ja-JP" dirty="0"/>
          </a:p>
          <a:p>
            <a:pPr>
              <a:buFont typeface="Wingdings" panose="05000000000000000000" pitchFamily="2" charset="2"/>
              <a:buChar char="u"/>
            </a:pPr>
            <a:r>
              <a:rPr lang="ja-JP" altLang="en-US" b="1" dirty="0"/>
              <a:t>感想</a:t>
            </a:r>
            <a:endParaRPr lang="en-US" altLang="ja-JP" b="1" dirty="0"/>
          </a:p>
          <a:p>
            <a:pPr marL="0" indent="0">
              <a:buNone/>
            </a:pPr>
            <a:r>
              <a:rPr lang="en-US" altLang="ja-JP" dirty="0"/>
              <a:t>AI</a:t>
            </a:r>
            <a:r>
              <a:rPr lang="ja-JP" altLang="en-US" dirty="0"/>
              <a:t>制御の考えることが多すぎて、逆に</a:t>
            </a:r>
            <a:r>
              <a:rPr lang="en-US" altLang="ja-JP" dirty="0"/>
              <a:t>PI</a:t>
            </a:r>
            <a:r>
              <a:rPr lang="ja-JP" altLang="en-US" dirty="0"/>
              <a:t>制御が、いかに簡単で優秀なのかを知った。</a:t>
            </a:r>
            <a:endParaRPr lang="en-US" altLang="ja-JP" dirty="0"/>
          </a:p>
        </p:txBody>
      </p:sp>
      <p:grpSp>
        <p:nvGrpSpPr>
          <p:cNvPr id="10" name="グループ化 9">
            <a:extLst>
              <a:ext uri="{FF2B5EF4-FFF2-40B4-BE49-F238E27FC236}">
                <a16:creationId xmlns:a16="http://schemas.microsoft.com/office/drawing/2014/main" id="{A7FA1EE2-10A2-F530-1E6F-341664FF0B40}"/>
              </a:ext>
            </a:extLst>
          </p:cNvPr>
          <p:cNvGrpSpPr/>
          <p:nvPr/>
        </p:nvGrpSpPr>
        <p:grpSpPr>
          <a:xfrm>
            <a:off x="2985370" y="2671184"/>
            <a:ext cx="1015840" cy="655320"/>
            <a:chOff x="2796540" y="2720340"/>
            <a:chExt cx="1015840" cy="655320"/>
          </a:xfrm>
        </p:grpSpPr>
        <p:cxnSp>
          <p:nvCxnSpPr>
            <p:cNvPr id="7" name="直線矢印コネクタ 6">
              <a:extLst>
                <a:ext uri="{FF2B5EF4-FFF2-40B4-BE49-F238E27FC236}">
                  <a16:creationId xmlns:a16="http://schemas.microsoft.com/office/drawing/2014/main" id="{0FCF5AB7-C0AC-556C-A506-2E99B2499FFA}"/>
                </a:ext>
              </a:extLst>
            </p:cNvPr>
            <p:cNvCxnSpPr>
              <a:cxnSpLocks/>
            </p:cNvCxnSpPr>
            <p:nvPr/>
          </p:nvCxnSpPr>
          <p:spPr>
            <a:xfrm>
              <a:off x="2796540" y="2720340"/>
              <a:ext cx="0" cy="655320"/>
            </a:xfrm>
            <a:prstGeom prst="straightConnector1">
              <a:avLst/>
            </a:prstGeom>
            <a:ln w="76200">
              <a:solidFill>
                <a:schemeClr val="tx1"/>
              </a:solidFill>
              <a:headEnd type="triangle"/>
              <a:tailEnd type="triangle"/>
            </a:ln>
          </p:spPr>
          <p:style>
            <a:lnRef idx="2">
              <a:schemeClr val="accent1"/>
            </a:lnRef>
            <a:fillRef idx="0">
              <a:schemeClr val="accent1"/>
            </a:fillRef>
            <a:effectRef idx="1">
              <a:schemeClr val="accent1"/>
            </a:effectRef>
            <a:fontRef idx="minor">
              <a:schemeClr val="tx1"/>
            </a:fontRef>
          </p:style>
        </p:cxnSp>
        <p:sp>
          <p:nvSpPr>
            <p:cNvPr id="9" name="テキスト ボックス 8">
              <a:extLst>
                <a:ext uri="{FF2B5EF4-FFF2-40B4-BE49-F238E27FC236}">
                  <a16:creationId xmlns:a16="http://schemas.microsoft.com/office/drawing/2014/main" id="{DBC17B4D-F08E-4908-449B-483DBED37D1A}"/>
                </a:ext>
              </a:extLst>
            </p:cNvPr>
            <p:cNvSpPr txBox="1"/>
            <p:nvPr/>
          </p:nvSpPr>
          <p:spPr>
            <a:xfrm>
              <a:off x="2925599" y="2863334"/>
              <a:ext cx="886781" cy="369332"/>
            </a:xfrm>
            <a:prstGeom prst="rect">
              <a:avLst/>
            </a:prstGeom>
            <a:noFill/>
          </p:spPr>
          <p:txBody>
            <a:bodyPr wrap="none" rtlCol="0">
              <a:spAutoFit/>
            </a:bodyPr>
            <a:lstStyle/>
            <a:p>
              <a:r>
                <a:rPr kumimoji="1" lang="ja-JP" altLang="en-US" dirty="0"/>
                <a:t>けど</a:t>
              </a:r>
              <a:r>
                <a:rPr kumimoji="1" lang="en-US" altLang="ja-JP" dirty="0"/>
                <a:t>…</a:t>
              </a:r>
              <a:endParaRPr kumimoji="1" lang="ja-JP" altLang="en-US" dirty="0"/>
            </a:p>
          </p:txBody>
        </p:sp>
      </p:grpSp>
      <p:grpSp>
        <p:nvGrpSpPr>
          <p:cNvPr id="11" name="グループ化 10">
            <a:extLst>
              <a:ext uri="{FF2B5EF4-FFF2-40B4-BE49-F238E27FC236}">
                <a16:creationId xmlns:a16="http://schemas.microsoft.com/office/drawing/2014/main" id="{54C88BFC-0180-9D8B-8F9F-C3BA488106C7}"/>
              </a:ext>
            </a:extLst>
          </p:cNvPr>
          <p:cNvGrpSpPr/>
          <p:nvPr/>
        </p:nvGrpSpPr>
        <p:grpSpPr>
          <a:xfrm>
            <a:off x="9111850" y="2158858"/>
            <a:ext cx="1015840" cy="655320"/>
            <a:chOff x="2796540" y="2720340"/>
            <a:chExt cx="1015840" cy="655320"/>
          </a:xfrm>
        </p:grpSpPr>
        <p:cxnSp>
          <p:nvCxnSpPr>
            <p:cNvPr id="12" name="直線矢印コネクタ 11">
              <a:extLst>
                <a:ext uri="{FF2B5EF4-FFF2-40B4-BE49-F238E27FC236}">
                  <a16:creationId xmlns:a16="http://schemas.microsoft.com/office/drawing/2014/main" id="{E9DFA820-DDD2-6F62-FDC2-05F6F275F578}"/>
                </a:ext>
              </a:extLst>
            </p:cNvPr>
            <p:cNvCxnSpPr>
              <a:cxnSpLocks/>
            </p:cNvCxnSpPr>
            <p:nvPr/>
          </p:nvCxnSpPr>
          <p:spPr>
            <a:xfrm>
              <a:off x="2796540" y="2720340"/>
              <a:ext cx="0" cy="655320"/>
            </a:xfrm>
            <a:prstGeom prst="straightConnector1">
              <a:avLst/>
            </a:prstGeom>
            <a:ln w="76200">
              <a:solidFill>
                <a:schemeClr val="tx1"/>
              </a:solidFill>
              <a:headEnd type="triangle"/>
              <a:tailEnd type="triangle"/>
            </a:ln>
          </p:spPr>
          <p:style>
            <a:lnRef idx="2">
              <a:schemeClr val="accent1"/>
            </a:lnRef>
            <a:fillRef idx="0">
              <a:schemeClr val="accent1"/>
            </a:fillRef>
            <a:effectRef idx="1">
              <a:schemeClr val="accent1"/>
            </a:effectRef>
            <a:fontRef idx="minor">
              <a:schemeClr val="tx1"/>
            </a:fontRef>
          </p:style>
        </p:cxnSp>
        <p:sp>
          <p:nvSpPr>
            <p:cNvPr id="13" name="テキスト ボックス 12">
              <a:extLst>
                <a:ext uri="{FF2B5EF4-FFF2-40B4-BE49-F238E27FC236}">
                  <a16:creationId xmlns:a16="http://schemas.microsoft.com/office/drawing/2014/main" id="{4D75C25F-18E0-0CCA-EBC6-B768625101C5}"/>
                </a:ext>
              </a:extLst>
            </p:cNvPr>
            <p:cNvSpPr txBox="1"/>
            <p:nvPr/>
          </p:nvSpPr>
          <p:spPr>
            <a:xfrm>
              <a:off x="2925599" y="2863334"/>
              <a:ext cx="886781" cy="369332"/>
            </a:xfrm>
            <a:prstGeom prst="rect">
              <a:avLst/>
            </a:prstGeom>
            <a:noFill/>
          </p:spPr>
          <p:txBody>
            <a:bodyPr wrap="none" rtlCol="0">
              <a:spAutoFit/>
            </a:bodyPr>
            <a:lstStyle/>
            <a:p>
              <a:r>
                <a:rPr kumimoji="1" lang="ja-JP" altLang="en-US" dirty="0"/>
                <a:t>けど</a:t>
              </a:r>
              <a:r>
                <a:rPr kumimoji="1" lang="en-US" altLang="ja-JP" dirty="0"/>
                <a:t>…</a:t>
              </a:r>
              <a:endParaRPr kumimoji="1" lang="ja-JP" altLang="en-US" dirty="0"/>
            </a:p>
          </p:txBody>
        </p:sp>
      </p:grpSp>
    </p:spTree>
    <p:extLst>
      <p:ext uri="{BB962C8B-B14F-4D97-AF65-F5344CB8AC3E}">
        <p14:creationId xmlns:p14="http://schemas.microsoft.com/office/powerpoint/2010/main" val="3860762197"/>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メイリオフォント">
      <a:majorFont>
        <a:latin typeface="Meiryo UI"/>
        <a:ea typeface="メイリオ"/>
        <a:cs typeface=""/>
      </a:majorFont>
      <a:minorFont>
        <a:latin typeface="Meiryo UI"/>
        <a:ea typeface="メイリオ"/>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1195</TotalTime>
  <Words>856</Words>
  <Application>Microsoft Office PowerPoint</Application>
  <PresentationFormat>ワイド画面</PresentationFormat>
  <Paragraphs>120</Paragraphs>
  <Slides>9</Slides>
  <Notes>0</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9</vt:i4>
      </vt:variant>
    </vt:vector>
  </HeadingPairs>
  <TitlesOfParts>
    <vt:vector size="14" baseType="lpstr">
      <vt:lpstr>Meiryo UI</vt:lpstr>
      <vt:lpstr>游ゴシック</vt:lpstr>
      <vt:lpstr>Arial</vt:lpstr>
      <vt:lpstr>Wingdings</vt:lpstr>
      <vt:lpstr>Office テーマ</vt:lpstr>
      <vt:lpstr>PowerPoint プレゼンテーション</vt:lpstr>
      <vt:lpstr>1. 研究概要</vt:lpstr>
      <vt:lpstr>2. 提案手法内容　①強化学習前の下処理(d-q変換)</vt:lpstr>
      <vt:lpstr>2. 提案手法内容　①強化学習前の下処理(小信号モデル)</vt:lpstr>
      <vt:lpstr>2. 提案手法内容　②強化学習のフレームワーク</vt:lpstr>
      <vt:lpstr>2. 提案手法内容　②強化学習のフレームワーク</vt:lpstr>
      <vt:lpstr>3. シミュレーション結果 </vt:lpstr>
      <vt:lpstr>3. シミュレーション結果 </vt:lpstr>
      <vt:lpstr>4. 論文評価</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福万　恭平</dc:creator>
  <cp:lastModifiedBy>福万　恭平</cp:lastModifiedBy>
  <cp:revision>15</cp:revision>
  <dcterms:created xsi:type="dcterms:W3CDTF">2026-04-09T02:18:07Z</dcterms:created>
  <dcterms:modified xsi:type="dcterms:W3CDTF">2026-04-14T08:47:23Z</dcterms:modified>
</cp:coreProperties>
</file>