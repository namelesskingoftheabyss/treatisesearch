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8" r:id="rId3"/>
    <p:sldId id="259" r:id="rId4"/>
    <p:sldId id="257"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74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C8E92A-ACD5-4BB2-BB82-C13E78ACB96C}" type="datetimeFigureOut">
              <a:rPr kumimoji="1" lang="ja-JP" altLang="en-US" smtClean="0"/>
              <a:t>2026/4/9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7D9654-7C46-420E-A93D-1E6EABEEBC09}" type="slidenum">
              <a:rPr kumimoji="1" lang="ja-JP" altLang="en-US" smtClean="0"/>
              <a:t>‹#›</a:t>
            </a:fld>
            <a:endParaRPr kumimoji="1" lang="ja-JP" altLang="en-US"/>
          </a:p>
        </p:txBody>
      </p:sp>
    </p:spTree>
    <p:extLst>
      <p:ext uri="{BB962C8B-B14F-4D97-AF65-F5344CB8AC3E}">
        <p14:creationId xmlns:p14="http://schemas.microsoft.com/office/powerpoint/2010/main" val="171020304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D39427-C9CC-9FFD-1626-FAC448A86A64}"/>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B4B4B6D4-7517-3B96-3079-5C1A7C2C148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6" name="スライド番号プレースホルダー 5">
            <a:extLst>
              <a:ext uri="{FF2B5EF4-FFF2-40B4-BE49-F238E27FC236}">
                <a16:creationId xmlns:a16="http://schemas.microsoft.com/office/drawing/2014/main" id="{C7556B07-A791-DEB2-8C27-975D94CF382A}"/>
              </a:ext>
            </a:extLst>
          </p:cNvPr>
          <p:cNvSpPr>
            <a:spLocks noGrp="1"/>
          </p:cNvSpPr>
          <p:nvPr>
            <p:ph type="sldNum" sz="quarter" idx="12"/>
          </p:nvPr>
        </p:nvSpPr>
        <p:spPr/>
        <p:txBody>
          <a:bodyPr/>
          <a:lstStyle/>
          <a:p>
            <a:fld id="{F60111BC-1026-41FD-925F-FB719F33286F}" type="slidenum">
              <a:rPr kumimoji="1" lang="ja-JP" altLang="en-US" smtClean="0"/>
              <a:t>‹#›</a:t>
            </a:fld>
            <a:endParaRPr kumimoji="1" lang="ja-JP" altLang="en-US"/>
          </a:p>
        </p:txBody>
      </p:sp>
    </p:spTree>
    <p:extLst>
      <p:ext uri="{BB962C8B-B14F-4D97-AF65-F5344CB8AC3E}">
        <p14:creationId xmlns:p14="http://schemas.microsoft.com/office/powerpoint/2010/main" val="2353057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A5466A-D634-5A96-8202-7766E945810E}"/>
              </a:ext>
            </a:extLst>
          </p:cNvPr>
          <p:cNvSpPr>
            <a:spLocks noGrp="1"/>
          </p:cNvSpPr>
          <p:nvPr>
            <p:ph type="title"/>
          </p:nvPr>
        </p:nvSpPr>
        <p:spPr>
          <a:xfrm>
            <a:off x="217640" y="199155"/>
            <a:ext cx="11756720" cy="690193"/>
          </a:xfrm>
        </p:spPr>
        <p:txBody>
          <a:bodyPr>
            <a:normAutofit/>
          </a:bodyPr>
          <a:lstStyle>
            <a:lvl1pPr>
              <a:defRPr sz="2800" b="1"/>
            </a:lvl1pPr>
          </a:lstStyle>
          <a:p>
            <a:r>
              <a:rPr kumimoji="1" lang="ja-JP" altLang="en-US" dirty="0"/>
              <a:t>マスター タイトルの書式設定</a:t>
            </a:r>
          </a:p>
        </p:txBody>
      </p:sp>
      <p:sp>
        <p:nvSpPr>
          <p:cNvPr id="3" name="コンテンツ プレースホルダー 2">
            <a:extLst>
              <a:ext uri="{FF2B5EF4-FFF2-40B4-BE49-F238E27FC236}">
                <a16:creationId xmlns:a16="http://schemas.microsoft.com/office/drawing/2014/main" id="{0EBBFFE8-A1B3-8C9F-1E6A-EF88481A2449}"/>
              </a:ext>
            </a:extLst>
          </p:cNvPr>
          <p:cNvSpPr>
            <a:spLocks noGrp="1"/>
          </p:cNvSpPr>
          <p:nvPr>
            <p:ph idx="1"/>
          </p:nvPr>
        </p:nvSpPr>
        <p:spPr>
          <a:xfrm>
            <a:off x="217640" y="1114816"/>
            <a:ext cx="11756720" cy="5235272"/>
          </a:xfrm>
        </p:spPr>
        <p:txBody>
          <a:bodyPr>
            <a:normAutofit/>
          </a:bodyPr>
          <a:lstStyle>
            <a:lvl1pPr>
              <a:defRPr sz="2000"/>
            </a:lvl1pPr>
            <a:lvl2pPr>
              <a:defRPr sz="2000"/>
            </a:lvl2pPr>
            <a:lvl3pPr>
              <a:defRPr sz="2000"/>
            </a:lvl3pPr>
            <a:lvl4pPr>
              <a:defRPr sz="2000"/>
            </a:lvl4pPr>
            <a:lvl5pPr>
              <a:defRPr sz="2000"/>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a:extLst>
              <a:ext uri="{FF2B5EF4-FFF2-40B4-BE49-F238E27FC236}">
                <a16:creationId xmlns:a16="http://schemas.microsoft.com/office/drawing/2014/main" id="{7E88BBAD-8681-20F3-C28F-979996FC65A0}"/>
              </a:ext>
            </a:extLst>
          </p:cNvPr>
          <p:cNvSpPr>
            <a:spLocks noGrp="1"/>
          </p:cNvSpPr>
          <p:nvPr>
            <p:ph type="sldNum" sz="quarter" idx="12"/>
          </p:nvPr>
        </p:nvSpPr>
        <p:spPr>
          <a:xfrm>
            <a:off x="4724400" y="6418980"/>
            <a:ext cx="2743200" cy="365125"/>
          </a:xfrm>
        </p:spPr>
        <p:txBody>
          <a:bodyPr/>
          <a:lstStyle>
            <a:lvl1pPr algn="ctr">
              <a:defRPr/>
            </a:lvl1pPr>
          </a:lstStyle>
          <a:p>
            <a:fld id="{F60111BC-1026-41FD-925F-FB719F33286F}" type="slidenum">
              <a:rPr lang="ja-JP" altLang="en-US" smtClean="0"/>
              <a:pPr/>
              <a:t>‹#›</a:t>
            </a:fld>
            <a:endParaRPr lang="ja-JP" altLang="en-US"/>
          </a:p>
        </p:txBody>
      </p:sp>
      <p:cxnSp>
        <p:nvCxnSpPr>
          <p:cNvPr id="8" name="直線コネクタ 7">
            <a:extLst>
              <a:ext uri="{FF2B5EF4-FFF2-40B4-BE49-F238E27FC236}">
                <a16:creationId xmlns:a16="http://schemas.microsoft.com/office/drawing/2014/main" id="{54E8A269-8737-9D54-34F7-DED33506F180}"/>
              </a:ext>
            </a:extLst>
          </p:cNvPr>
          <p:cNvCxnSpPr/>
          <p:nvPr userDrawn="1"/>
        </p:nvCxnSpPr>
        <p:spPr>
          <a:xfrm>
            <a:off x="251825" y="820455"/>
            <a:ext cx="11688349" cy="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9174395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94A8A6F-FB66-CF93-D320-61D9C7E8F9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69706C-BF52-326D-1C69-694CB9CCAB3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スライド番号プレースホルダー 5">
            <a:extLst>
              <a:ext uri="{FF2B5EF4-FFF2-40B4-BE49-F238E27FC236}">
                <a16:creationId xmlns:a16="http://schemas.microsoft.com/office/drawing/2014/main" id="{FD666C31-6851-6BB7-C5F5-B9365FD3B44B}"/>
              </a:ext>
            </a:extLst>
          </p:cNvPr>
          <p:cNvSpPr>
            <a:spLocks noGrp="1"/>
          </p:cNvSpPr>
          <p:nvPr>
            <p:ph type="sldNum" sz="quarter" idx="4"/>
          </p:nvPr>
        </p:nvSpPr>
        <p:spPr>
          <a:xfrm>
            <a:off x="4724400" y="6417719"/>
            <a:ext cx="27432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algn="ctr"/>
            <a:fld id="{F60111BC-1026-41FD-925F-FB719F33286F}" type="slidenum">
              <a:rPr lang="ja-JP" altLang="en-US" smtClean="0"/>
              <a:pPr/>
              <a:t>‹#›</a:t>
            </a:fld>
            <a:endParaRPr lang="ja-JP" altLang="en-US"/>
          </a:p>
        </p:txBody>
      </p:sp>
    </p:spTree>
    <p:extLst>
      <p:ext uri="{BB962C8B-B14F-4D97-AF65-F5344CB8AC3E}">
        <p14:creationId xmlns:p14="http://schemas.microsoft.com/office/powerpoint/2010/main" val="2979254811"/>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B58F8ED-2FF6-036A-B450-528817F26E11}"/>
              </a:ext>
            </a:extLst>
          </p:cNvPr>
          <p:cNvSpPr txBox="1"/>
          <p:nvPr/>
        </p:nvSpPr>
        <p:spPr>
          <a:xfrm>
            <a:off x="311426" y="1864241"/>
            <a:ext cx="11569148" cy="1200329"/>
          </a:xfrm>
          <a:prstGeom prst="rect">
            <a:avLst/>
          </a:prstGeom>
          <a:noFill/>
        </p:spPr>
        <p:txBody>
          <a:bodyPr wrap="square">
            <a:spAutoFit/>
          </a:bodyPr>
          <a:lstStyle/>
          <a:p>
            <a:pPr algn="ctr"/>
            <a:r>
              <a:rPr lang="en-US" altLang="ja-JP" sz="3600" b="0" i="0" dirty="0">
                <a:effectLst/>
                <a:latin typeface="Arial" panose="020B0604020202020204" pitchFamily="34" charset="0"/>
              </a:rPr>
              <a:t>“ Design of Controller for three-phase</a:t>
            </a:r>
            <a:r>
              <a:rPr lang="en-US" altLang="ja-JP" sz="3600" dirty="0">
                <a:latin typeface="Arial" panose="020B0604020202020204" pitchFamily="34" charset="0"/>
              </a:rPr>
              <a:t> </a:t>
            </a:r>
            <a:r>
              <a:rPr lang="en-US" altLang="ja-JP" sz="3600" b="0" i="0" dirty="0">
                <a:effectLst/>
                <a:latin typeface="Arial" panose="020B0604020202020204" pitchFamily="34" charset="0"/>
              </a:rPr>
              <a:t>Grid-Connected Inverter Using Reinforcement Learning ”</a:t>
            </a:r>
            <a:endParaRPr lang="ja-JP" altLang="en-US" sz="3600" dirty="0"/>
          </a:p>
        </p:txBody>
      </p:sp>
      <p:sp>
        <p:nvSpPr>
          <p:cNvPr id="6" name="テキスト ボックス 5">
            <a:extLst>
              <a:ext uri="{FF2B5EF4-FFF2-40B4-BE49-F238E27FC236}">
                <a16:creationId xmlns:a16="http://schemas.microsoft.com/office/drawing/2014/main" id="{02DED90C-70D8-AB50-DD24-ADE46F100560}"/>
              </a:ext>
            </a:extLst>
          </p:cNvPr>
          <p:cNvSpPr txBox="1"/>
          <p:nvPr/>
        </p:nvSpPr>
        <p:spPr>
          <a:xfrm>
            <a:off x="5102087" y="1062472"/>
            <a:ext cx="1987826" cy="646331"/>
          </a:xfrm>
          <a:prstGeom prst="rect">
            <a:avLst/>
          </a:prstGeom>
          <a:noFill/>
        </p:spPr>
        <p:txBody>
          <a:bodyPr wrap="square">
            <a:spAutoFit/>
          </a:bodyPr>
          <a:lstStyle/>
          <a:p>
            <a:r>
              <a:rPr lang="en-US" altLang="ja-JP" sz="3600" b="0" i="0" dirty="0">
                <a:effectLst/>
                <a:latin typeface="Arial" panose="020B0604020202020204" pitchFamily="34" charset="0"/>
              </a:rPr>
              <a:t>Review :</a:t>
            </a:r>
          </a:p>
        </p:txBody>
      </p:sp>
      <p:sp>
        <p:nvSpPr>
          <p:cNvPr id="8" name="テキスト ボックス 7">
            <a:extLst>
              <a:ext uri="{FF2B5EF4-FFF2-40B4-BE49-F238E27FC236}">
                <a16:creationId xmlns:a16="http://schemas.microsoft.com/office/drawing/2014/main" id="{5DC38757-E434-9CD6-9006-5A0EDF388465}"/>
              </a:ext>
            </a:extLst>
          </p:cNvPr>
          <p:cNvSpPr txBox="1"/>
          <p:nvPr/>
        </p:nvSpPr>
        <p:spPr>
          <a:xfrm>
            <a:off x="503582" y="3672886"/>
            <a:ext cx="3727174" cy="1477328"/>
          </a:xfrm>
          <a:prstGeom prst="rect">
            <a:avLst/>
          </a:prstGeom>
          <a:noFill/>
        </p:spPr>
        <p:txBody>
          <a:bodyPr wrap="square">
            <a:spAutoFit/>
          </a:bodyPr>
          <a:lstStyle/>
          <a:p>
            <a:pPr algn="ctr"/>
            <a:r>
              <a:rPr lang="en-US" altLang="ja-JP" dirty="0"/>
              <a:t>Raj </a:t>
            </a:r>
            <a:r>
              <a:rPr lang="en-US" altLang="ja-JP" dirty="0" err="1"/>
              <a:t>kumar</a:t>
            </a:r>
            <a:r>
              <a:rPr lang="en-US" altLang="ja-JP" dirty="0"/>
              <a:t> Mahto </a:t>
            </a:r>
          </a:p>
          <a:p>
            <a:pPr algn="ctr"/>
            <a:r>
              <a:rPr lang="en-US" altLang="ja-JP" dirty="0"/>
              <a:t>Department of Electrical and Electronics Engineering BIT, </a:t>
            </a:r>
            <a:r>
              <a:rPr lang="en-US" altLang="ja-JP" dirty="0" err="1"/>
              <a:t>Mesra</a:t>
            </a:r>
            <a:r>
              <a:rPr lang="en-US" altLang="ja-JP" dirty="0"/>
              <a:t> </a:t>
            </a:r>
            <a:r>
              <a:rPr lang="en-US" altLang="ja-JP" dirty="0" err="1"/>
              <a:t>Ranchi,Jharkhand</a:t>
            </a:r>
            <a:r>
              <a:rPr lang="en-US" altLang="ja-JP" dirty="0"/>
              <a:t> </a:t>
            </a:r>
          </a:p>
          <a:p>
            <a:pPr algn="ctr"/>
            <a:r>
              <a:rPr lang="en-US" altLang="ja-JP" dirty="0"/>
              <a:t>mtee10003.22@bitmesra.ac.in</a:t>
            </a:r>
            <a:endParaRPr lang="ja-JP" altLang="en-US" dirty="0"/>
          </a:p>
        </p:txBody>
      </p:sp>
      <p:sp>
        <p:nvSpPr>
          <p:cNvPr id="10" name="テキスト ボックス 9">
            <a:extLst>
              <a:ext uri="{FF2B5EF4-FFF2-40B4-BE49-F238E27FC236}">
                <a16:creationId xmlns:a16="http://schemas.microsoft.com/office/drawing/2014/main" id="{D6528A8F-8700-14A7-0AFB-3858CE9A2585}"/>
              </a:ext>
            </a:extLst>
          </p:cNvPr>
          <p:cNvSpPr txBox="1"/>
          <p:nvPr/>
        </p:nvSpPr>
        <p:spPr>
          <a:xfrm>
            <a:off x="4230757" y="3671869"/>
            <a:ext cx="3697356" cy="1477328"/>
          </a:xfrm>
          <a:prstGeom prst="rect">
            <a:avLst/>
          </a:prstGeom>
          <a:noFill/>
        </p:spPr>
        <p:txBody>
          <a:bodyPr wrap="square">
            <a:spAutoFit/>
          </a:bodyPr>
          <a:lstStyle/>
          <a:p>
            <a:pPr algn="ctr"/>
            <a:r>
              <a:rPr lang="en-US" altLang="ja-JP" dirty="0"/>
              <a:t>Pankaj Mishra </a:t>
            </a:r>
          </a:p>
          <a:p>
            <a:pPr algn="ctr"/>
            <a:r>
              <a:rPr lang="en-US" altLang="ja-JP" dirty="0"/>
              <a:t>Department of Electrical and Electronics Engineering BIT, </a:t>
            </a:r>
            <a:r>
              <a:rPr lang="en-US" altLang="ja-JP" dirty="0" err="1"/>
              <a:t>Mesra</a:t>
            </a:r>
            <a:r>
              <a:rPr lang="en-US" altLang="ja-JP" dirty="0"/>
              <a:t> </a:t>
            </a:r>
            <a:r>
              <a:rPr lang="en-US" altLang="ja-JP" dirty="0" err="1"/>
              <a:t>Ranchi,Jharkhand</a:t>
            </a:r>
            <a:r>
              <a:rPr lang="en-US" altLang="ja-JP" dirty="0"/>
              <a:t> pankajmishra@bitmesra.ac.in</a:t>
            </a:r>
            <a:endParaRPr lang="ja-JP" altLang="en-US" dirty="0"/>
          </a:p>
        </p:txBody>
      </p:sp>
      <p:sp>
        <p:nvSpPr>
          <p:cNvPr id="12" name="テキスト ボックス 11">
            <a:extLst>
              <a:ext uri="{FF2B5EF4-FFF2-40B4-BE49-F238E27FC236}">
                <a16:creationId xmlns:a16="http://schemas.microsoft.com/office/drawing/2014/main" id="{9980AE1F-9A31-B289-5BE4-6CA165699B14}"/>
              </a:ext>
            </a:extLst>
          </p:cNvPr>
          <p:cNvSpPr txBox="1"/>
          <p:nvPr/>
        </p:nvSpPr>
        <p:spPr>
          <a:xfrm>
            <a:off x="7928112" y="3671869"/>
            <a:ext cx="3697356" cy="1477328"/>
          </a:xfrm>
          <a:prstGeom prst="rect">
            <a:avLst/>
          </a:prstGeom>
          <a:noFill/>
        </p:spPr>
        <p:txBody>
          <a:bodyPr wrap="square">
            <a:spAutoFit/>
          </a:bodyPr>
          <a:lstStyle/>
          <a:p>
            <a:pPr algn="ctr"/>
            <a:r>
              <a:rPr lang="en-US" altLang="ja-JP" dirty="0"/>
              <a:t>Aftab Alam </a:t>
            </a:r>
          </a:p>
          <a:p>
            <a:pPr algn="ctr"/>
            <a:r>
              <a:rPr lang="en-US" altLang="ja-JP" dirty="0"/>
              <a:t>Department of Electrical and Electronics Engineering BIT, </a:t>
            </a:r>
            <a:r>
              <a:rPr lang="en-US" altLang="ja-JP" dirty="0" err="1"/>
              <a:t>Mesra</a:t>
            </a:r>
            <a:r>
              <a:rPr lang="en-US" altLang="ja-JP" dirty="0"/>
              <a:t> </a:t>
            </a:r>
            <a:r>
              <a:rPr lang="en-US" altLang="ja-JP" dirty="0" err="1"/>
              <a:t>Ranchi,Jharkhand</a:t>
            </a:r>
            <a:r>
              <a:rPr lang="en-US" altLang="ja-JP" dirty="0"/>
              <a:t> aftabalam5555@bitmesra.ac.in</a:t>
            </a:r>
            <a:endParaRPr lang="ja-JP" altLang="en-US" dirty="0"/>
          </a:p>
        </p:txBody>
      </p:sp>
      <p:sp>
        <p:nvSpPr>
          <p:cNvPr id="14" name="テキスト ボックス 13">
            <a:extLst>
              <a:ext uri="{FF2B5EF4-FFF2-40B4-BE49-F238E27FC236}">
                <a16:creationId xmlns:a16="http://schemas.microsoft.com/office/drawing/2014/main" id="{0EB17879-43D7-D0F7-AAF9-092E49F3AF6C}"/>
              </a:ext>
            </a:extLst>
          </p:cNvPr>
          <p:cNvSpPr txBox="1"/>
          <p:nvPr/>
        </p:nvSpPr>
        <p:spPr>
          <a:xfrm>
            <a:off x="7755834" y="6048387"/>
            <a:ext cx="3869634" cy="369332"/>
          </a:xfrm>
          <a:prstGeom prst="rect">
            <a:avLst/>
          </a:prstGeom>
          <a:noFill/>
        </p:spPr>
        <p:txBody>
          <a:bodyPr wrap="square">
            <a:spAutoFit/>
          </a:bodyPr>
          <a:lstStyle/>
          <a:p>
            <a:pPr algn="ctr"/>
            <a:r>
              <a:rPr lang="en-US" altLang="ja-JP" dirty="0"/>
              <a:t>(</a:t>
            </a:r>
            <a:r>
              <a:rPr lang="ja-JP" altLang="en-US" dirty="0"/>
              <a:t>資料作成 </a:t>
            </a:r>
            <a:r>
              <a:rPr lang="en-US" altLang="ja-JP" dirty="0"/>
              <a:t>: AE22042 </a:t>
            </a:r>
            <a:r>
              <a:rPr lang="ja-JP" altLang="en-US" dirty="0"/>
              <a:t>福万恭平</a:t>
            </a:r>
            <a:r>
              <a:rPr lang="en-US" altLang="ja-JP" dirty="0"/>
              <a:t>)</a:t>
            </a:r>
            <a:endParaRPr lang="ja-JP" altLang="en-US" dirty="0"/>
          </a:p>
        </p:txBody>
      </p:sp>
      <p:sp>
        <p:nvSpPr>
          <p:cNvPr id="15" name="テキスト ボックス 14">
            <a:extLst>
              <a:ext uri="{FF2B5EF4-FFF2-40B4-BE49-F238E27FC236}">
                <a16:creationId xmlns:a16="http://schemas.microsoft.com/office/drawing/2014/main" id="{A553B8EC-3F5B-AEE7-80FE-31E613E9E1A4}"/>
              </a:ext>
            </a:extLst>
          </p:cNvPr>
          <p:cNvSpPr txBox="1"/>
          <p:nvPr/>
        </p:nvSpPr>
        <p:spPr>
          <a:xfrm>
            <a:off x="258417" y="3303046"/>
            <a:ext cx="1663148" cy="369332"/>
          </a:xfrm>
          <a:prstGeom prst="rect">
            <a:avLst/>
          </a:prstGeom>
          <a:noFill/>
        </p:spPr>
        <p:txBody>
          <a:bodyPr wrap="square">
            <a:spAutoFit/>
          </a:bodyPr>
          <a:lstStyle/>
          <a:p>
            <a:pPr algn="ctr"/>
            <a:r>
              <a:rPr lang="en-US" altLang="ja-JP" b="1" dirty="0"/>
              <a:t>Author :</a:t>
            </a:r>
            <a:endParaRPr lang="ja-JP" altLang="en-US" b="1" dirty="0"/>
          </a:p>
        </p:txBody>
      </p:sp>
      <p:sp>
        <p:nvSpPr>
          <p:cNvPr id="16" name="スライド番号プレースホルダー 15">
            <a:extLst>
              <a:ext uri="{FF2B5EF4-FFF2-40B4-BE49-F238E27FC236}">
                <a16:creationId xmlns:a16="http://schemas.microsoft.com/office/drawing/2014/main" id="{74BC3AF1-C633-F9BB-A28C-94D23AA9883C}"/>
              </a:ext>
            </a:extLst>
          </p:cNvPr>
          <p:cNvSpPr>
            <a:spLocks noGrp="1"/>
          </p:cNvSpPr>
          <p:nvPr>
            <p:ph type="sldNum" sz="quarter" idx="12"/>
          </p:nvPr>
        </p:nvSpPr>
        <p:spPr/>
        <p:txBody>
          <a:bodyPr/>
          <a:lstStyle/>
          <a:p>
            <a:fld id="{F60111BC-1026-41FD-925F-FB719F33286F}" type="slidenum">
              <a:rPr kumimoji="1" lang="ja-JP" altLang="en-US" smtClean="0"/>
              <a:t>1</a:t>
            </a:fld>
            <a:endParaRPr kumimoji="1" lang="ja-JP" altLang="en-US"/>
          </a:p>
        </p:txBody>
      </p:sp>
    </p:spTree>
    <p:extLst>
      <p:ext uri="{BB962C8B-B14F-4D97-AF65-F5344CB8AC3E}">
        <p14:creationId xmlns:p14="http://schemas.microsoft.com/office/powerpoint/2010/main" val="250176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4D0C6F6-6526-DE13-4154-7A945DCFC948}"/>
              </a:ext>
            </a:extLst>
          </p:cNvPr>
          <p:cNvSpPr>
            <a:spLocks noGrp="1"/>
          </p:cNvSpPr>
          <p:nvPr>
            <p:ph type="title"/>
          </p:nvPr>
        </p:nvSpPr>
        <p:spPr/>
        <p:txBody>
          <a:bodyPr/>
          <a:lstStyle/>
          <a:p>
            <a:r>
              <a:rPr kumimoji="1" lang="en-US" altLang="ja-JP" dirty="0"/>
              <a:t>1. </a:t>
            </a:r>
            <a:r>
              <a:rPr kumimoji="1" lang="ja-JP" altLang="en-US" dirty="0"/>
              <a:t>研究概要</a:t>
            </a:r>
          </a:p>
        </p:txBody>
      </p:sp>
      <p:sp>
        <p:nvSpPr>
          <p:cNvPr id="3" name="コンテンツ プレースホルダー 2">
            <a:extLst>
              <a:ext uri="{FF2B5EF4-FFF2-40B4-BE49-F238E27FC236}">
                <a16:creationId xmlns:a16="http://schemas.microsoft.com/office/drawing/2014/main" id="{AA3580BB-C6AC-F18F-D49E-2630BEA1FB0F}"/>
              </a:ext>
            </a:extLst>
          </p:cNvPr>
          <p:cNvSpPr>
            <a:spLocks noGrp="1"/>
          </p:cNvSpPr>
          <p:nvPr>
            <p:ph idx="1"/>
          </p:nvPr>
        </p:nvSpPr>
        <p:spPr/>
        <p:txBody>
          <a:bodyPr>
            <a:normAutofit/>
          </a:bodyPr>
          <a:lstStyle/>
          <a:p>
            <a:pPr>
              <a:buFont typeface="Wingdings" panose="05000000000000000000" pitchFamily="2" charset="2"/>
              <a:buChar char="n"/>
            </a:pPr>
            <a:r>
              <a:rPr kumimoji="1" lang="ja-JP" altLang="en-US" b="1" dirty="0"/>
              <a:t>研究目的</a:t>
            </a:r>
            <a:endParaRPr kumimoji="1" lang="en-US" altLang="ja-JP" b="1" dirty="0"/>
          </a:p>
          <a:p>
            <a:pPr marL="0" indent="0">
              <a:buNone/>
            </a:pPr>
            <a:r>
              <a:rPr kumimoji="1" lang="ja-JP" altLang="en-US" dirty="0"/>
              <a:t>電圧計インバータ</a:t>
            </a:r>
            <a:r>
              <a:rPr kumimoji="1" lang="en-US" altLang="ja-JP" dirty="0"/>
              <a:t>(VSI)</a:t>
            </a:r>
            <a:r>
              <a:rPr lang="ja-JP" altLang="en-US" dirty="0"/>
              <a:t>向けの、より高性能な新しい制御器の設計</a:t>
            </a:r>
            <a:endParaRPr lang="en-US" altLang="ja-JP" dirty="0"/>
          </a:p>
          <a:p>
            <a:pPr>
              <a:buFont typeface="Wingdings" panose="05000000000000000000" pitchFamily="2" charset="2"/>
              <a:buChar char="Ø"/>
            </a:pPr>
            <a:r>
              <a:rPr lang="ja-JP" altLang="en-US" dirty="0">
                <a:solidFill>
                  <a:srgbClr val="C00000"/>
                </a:solidFill>
              </a:rPr>
              <a:t>全高調波歪の低減</a:t>
            </a:r>
            <a:endParaRPr lang="en-US" altLang="ja-JP" dirty="0">
              <a:solidFill>
                <a:srgbClr val="C00000"/>
              </a:solidFill>
            </a:endParaRPr>
          </a:p>
          <a:p>
            <a:pPr>
              <a:buFont typeface="Wingdings" panose="05000000000000000000" pitchFamily="2" charset="2"/>
              <a:buChar char="Ø"/>
            </a:pPr>
            <a:r>
              <a:rPr lang="ja-JP" altLang="en-US" dirty="0">
                <a:solidFill>
                  <a:srgbClr val="C00000"/>
                </a:solidFill>
              </a:rPr>
              <a:t>定常誤差とリップルの最小化</a:t>
            </a:r>
            <a:endParaRPr lang="en-US" altLang="ja-JP" dirty="0">
              <a:solidFill>
                <a:srgbClr val="C00000"/>
              </a:solidFill>
            </a:endParaRPr>
          </a:p>
          <a:p>
            <a:pPr>
              <a:buFont typeface="Wingdings" panose="05000000000000000000" pitchFamily="2" charset="2"/>
              <a:buChar char="Ø"/>
            </a:pPr>
            <a:r>
              <a:rPr lang="ja-JP" altLang="en-US" dirty="0">
                <a:solidFill>
                  <a:srgbClr val="C00000"/>
                </a:solidFill>
              </a:rPr>
              <a:t>目標値への素早い電流追従</a:t>
            </a:r>
            <a:endParaRPr kumimoji="1" lang="en-US" altLang="ja-JP" dirty="0">
              <a:solidFill>
                <a:srgbClr val="C00000"/>
              </a:solidFill>
            </a:endParaRPr>
          </a:p>
          <a:p>
            <a:pPr marL="0" indent="0">
              <a:buNone/>
            </a:pPr>
            <a:endParaRPr kumimoji="1" lang="en-US" altLang="ja-JP" dirty="0"/>
          </a:p>
          <a:p>
            <a:pPr>
              <a:buFont typeface="Wingdings" panose="05000000000000000000" pitchFamily="2" charset="2"/>
              <a:buChar char="n"/>
            </a:pPr>
            <a:r>
              <a:rPr lang="ja-JP" altLang="en-US" b="1" dirty="0"/>
              <a:t>従来制御の課題</a:t>
            </a:r>
            <a:endParaRPr lang="en-US" altLang="ja-JP" b="1" dirty="0"/>
          </a:p>
          <a:p>
            <a:pPr marL="0" indent="0">
              <a:buNone/>
            </a:pPr>
            <a:r>
              <a:rPr lang="ja-JP" altLang="en-US" dirty="0"/>
              <a:t>従来の</a:t>
            </a:r>
            <a:r>
              <a:rPr lang="en-US" altLang="ja-JP" dirty="0"/>
              <a:t>PI</a:t>
            </a:r>
            <a:r>
              <a:rPr lang="ja-JP" altLang="en-US" dirty="0"/>
              <a:t>制御、</a:t>
            </a:r>
            <a:r>
              <a:rPr lang="en-US" altLang="ja-JP" dirty="0"/>
              <a:t>PR</a:t>
            </a:r>
            <a:r>
              <a:rPr lang="ja-JP" altLang="en-US" dirty="0"/>
              <a:t>制御、</a:t>
            </a:r>
            <a:r>
              <a:rPr lang="en-US" altLang="ja-JP" dirty="0"/>
              <a:t>DB</a:t>
            </a:r>
            <a:r>
              <a:rPr lang="ja-JP" altLang="en-US" dirty="0"/>
              <a:t>制御、</a:t>
            </a:r>
            <a:r>
              <a:rPr lang="en-US" altLang="ja-JP" dirty="0"/>
              <a:t>MPC</a:t>
            </a:r>
            <a:r>
              <a:rPr lang="ja-JP" altLang="en-US" dirty="0"/>
              <a:t>などには構造的な限界があった</a:t>
            </a:r>
            <a:endParaRPr lang="en-US" altLang="ja-JP" dirty="0"/>
          </a:p>
          <a:p>
            <a:r>
              <a:rPr lang="ja-JP" altLang="en-US" dirty="0">
                <a:solidFill>
                  <a:schemeClr val="tx2">
                    <a:lumMod val="75000"/>
                    <a:lumOff val="25000"/>
                  </a:schemeClr>
                </a:solidFill>
              </a:rPr>
              <a:t>モデルへの強依存 → 環境変動や経年劣化などでシステム条件が変わると、固定された制御ゲインでは対応しきれずに性能低下</a:t>
            </a:r>
            <a:endParaRPr lang="en-US" altLang="ja-JP" dirty="0">
              <a:solidFill>
                <a:schemeClr val="tx2">
                  <a:lumMod val="75000"/>
                  <a:lumOff val="25000"/>
                </a:schemeClr>
              </a:solidFill>
            </a:endParaRPr>
          </a:p>
          <a:p>
            <a:r>
              <a:rPr lang="ja-JP" altLang="en-US" dirty="0">
                <a:solidFill>
                  <a:schemeClr val="tx2">
                    <a:lumMod val="75000"/>
                    <a:lumOff val="25000"/>
                  </a:schemeClr>
                </a:solidFill>
              </a:rPr>
              <a:t>動的性能と定常性能のトレードオフ → 応答を早くしようとすると、オーバーシュートが発生</a:t>
            </a:r>
            <a:endParaRPr lang="en-US" altLang="ja-JP" dirty="0">
              <a:solidFill>
                <a:schemeClr val="tx2">
                  <a:lumMod val="75000"/>
                  <a:lumOff val="25000"/>
                </a:schemeClr>
              </a:solidFill>
            </a:endParaRPr>
          </a:p>
          <a:p>
            <a:r>
              <a:rPr lang="ja-JP" altLang="en-US" dirty="0">
                <a:solidFill>
                  <a:schemeClr val="tx2">
                    <a:lumMod val="75000"/>
                    <a:lumOff val="25000"/>
                  </a:schemeClr>
                </a:solidFill>
              </a:rPr>
              <a:t>調整の複雑さ → 上記トレードオフの中で、最適な制御器ゲインの調整作業が複雑かつ困難</a:t>
            </a:r>
            <a:endParaRPr lang="en-US" altLang="ja-JP" dirty="0">
              <a:solidFill>
                <a:schemeClr val="tx2">
                  <a:lumMod val="75000"/>
                  <a:lumOff val="25000"/>
                </a:schemeClr>
              </a:solidFill>
            </a:endParaRPr>
          </a:p>
          <a:p>
            <a:pPr marL="0" indent="0">
              <a:buNone/>
            </a:pPr>
            <a:endParaRPr lang="en-US" altLang="ja-JP" dirty="0"/>
          </a:p>
          <a:p>
            <a:pPr marL="0" indent="0">
              <a:buNone/>
            </a:pPr>
            <a:endParaRPr lang="en-US" altLang="ja-JP" dirty="0"/>
          </a:p>
          <a:p>
            <a:pPr marL="0" indent="0">
              <a:buNone/>
            </a:pPr>
            <a:endParaRPr kumimoji="1" lang="ja-JP" altLang="en-US" dirty="0"/>
          </a:p>
        </p:txBody>
      </p:sp>
      <p:sp>
        <p:nvSpPr>
          <p:cNvPr id="4" name="スライド番号プレースホルダー 3">
            <a:extLst>
              <a:ext uri="{FF2B5EF4-FFF2-40B4-BE49-F238E27FC236}">
                <a16:creationId xmlns:a16="http://schemas.microsoft.com/office/drawing/2014/main" id="{7F55D678-B005-B5DC-72A7-19E694865E4C}"/>
              </a:ext>
            </a:extLst>
          </p:cNvPr>
          <p:cNvSpPr>
            <a:spLocks noGrp="1"/>
          </p:cNvSpPr>
          <p:nvPr>
            <p:ph type="sldNum" sz="quarter" idx="12"/>
          </p:nvPr>
        </p:nvSpPr>
        <p:spPr/>
        <p:txBody>
          <a:bodyPr/>
          <a:lstStyle/>
          <a:p>
            <a:fld id="{F60111BC-1026-41FD-925F-FB719F33286F}" type="slidenum">
              <a:rPr kumimoji="1" lang="ja-JP" altLang="en-US" smtClean="0"/>
              <a:t>2</a:t>
            </a:fld>
            <a:endParaRPr kumimoji="1" lang="ja-JP" altLang="en-US"/>
          </a:p>
        </p:txBody>
      </p:sp>
    </p:spTree>
    <p:extLst>
      <p:ext uri="{BB962C8B-B14F-4D97-AF65-F5344CB8AC3E}">
        <p14:creationId xmlns:p14="http://schemas.microsoft.com/office/powerpoint/2010/main" val="10374200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9D2289-AEB4-DE73-2AA2-4591F1F7418C}"/>
              </a:ext>
            </a:extLst>
          </p:cNvPr>
          <p:cNvSpPr>
            <a:spLocks noGrp="1"/>
          </p:cNvSpPr>
          <p:nvPr>
            <p:ph type="title"/>
          </p:nvPr>
        </p:nvSpPr>
        <p:spPr/>
        <p:txBody>
          <a:bodyPr/>
          <a:lstStyle/>
          <a:p>
            <a:r>
              <a:rPr lang="en-US" altLang="ja-JP" dirty="0"/>
              <a:t>1. </a:t>
            </a:r>
            <a:r>
              <a:rPr lang="ja-JP" altLang="en-US" dirty="0"/>
              <a:t>研究概要</a:t>
            </a:r>
            <a:endParaRPr kumimoji="1" lang="ja-JP" altLang="en-US" dirty="0"/>
          </a:p>
        </p:txBody>
      </p:sp>
      <p:sp>
        <p:nvSpPr>
          <p:cNvPr id="3" name="コンテンツ プレースホルダー 2">
            <a:extLst>
              <a:ext uri="{FF2B5EF4-FFF2-40B4-BE49-F238E27FC236}">
                <a16:creationId xmlns:a16="http://schemas.microsoft.com/office/drawing/2014/main" id="{6FD1C5E6-08C6-C99E-A908-490AF0776538}"/>
              </a:ext>
            </a:extLst>
          </p:cNvPr>
          <p:cNvSpPr>
            <a:spLocks noGrp="1"/>
          </p:cNvSpPr>
          <p:nvPr>
            <p:ph idx="1"/>
          </p:nvPr>
        </p:nvSpPr>
        <p:spPr/>
        <p:txBody>
          <a:bodyPr/>
          <a:lstStyle/>
          <a:p>
            <a:pPr>
              <a:buFont typeface="Wingdings" panose="05000000000000000000" pitchFamily="2" charset="2"/>
              <a:buChar char="n"/>
            </a:pPr>
            <a:r>
              <a:rPr lang="ja-JP" altLang="en-US" dirty="0"/>
              <a:t>解決アプローチ</a:t>
            </a:r>
            <a:endParaRPr lang="en-US" altLang="ja-JP" dirty="0"/>
          </a:p>
          <a:p>
            <a:pPr marL="0" indent="0">
              <a:buNone/>
            </a:pPr>
            <a:r>
              <a:rPr lang="en-US" altLang="ja-JP" dirty="0"/>
              <a:t>RL-DDPG</a:t>
            </a:r>
            <a:r>
              <a:rPr lang="ja-JP" altLang="en-US" dirty="0"/>
              <a:t>による強化学習制御を提案</a:t>
            </a:r>
            <a:endParaRPr lang="en-US" altLang="ja-JP" dirty="0"/>
          </a:p>
        </p:txBody>
      </p:sp>
      <p:sp>
        <p:nvSpPr>
          <p:cNvPr id="4" name="スライド番号プレースホルダー 3">
            <a:extLst>
              <a:ext uri="{FF2B5EF4-FFF2-40B4-BE49-F238E27FC236}">
                <a16:creationId xmlns:a16="http://schemas.microsoft.com/office/drawing/2014/main" id="{A8BCE04C-177B-D830-681E-09E6C715CF91}"/>
              </a:ext>
            </a:extLst>
          </p:cNvPr>
          <p:cNvSpPr>
            <a:spLocks noGrp="1"/>
          </p:cNvSpPr>
          <p:nvPr>
            <p:ph type="sldNum" sz="quarter" idx="12"/>
          </p:nvPr>
        </p:nvSpPr>
        <p:spPr/>
        <p:txBody>
          <a:bodyPr/>
          <a:lstStyle/>
          <a:p>
            <a:fld id="{F60111BC-1026-41FD-925F-FB719F33286F}" type="slidenum">
              <a:rPr lang="ja-JP" altLang="en-US" smtClean="0"/>
              <a:pPr/>
              <a:t>3</a:t>
            </a:fld>
            <a:endParaRPr lang="ja-JP" altLang="en-US"/>
          </a:p>
        </p:txBody>
      </p:sp>
    </p:spTree>
    <p:extLst>
      <p:ext uri="{BB962C8B-B14F-4D97-AF65-F5344CB8AC3E}">
        <p14:creationId xmlns:p14="http://schemas.microsoft.com/office/powerpoint/2010/main" val="2707898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0044749-05D0-86C1-1D71-2342637A286A}"/>
              </a:ext>
            </a:extLst>
          </p:cNvPr>
          <p:cNvSpPr txBox="1"/>
          <p:nvPr/>
        </p:nvSpPr>
        <p:spPr>
          <a:xfrm>
            <a:off x="311426" y="452885"/>
            <a:ext cx="11569148" cy="3046988"/>
          </a:xfrm>
          <a:prstGeom prst="rect">
            <a:avLst/>
          </a:prstGeom>
          <a:noFill/>
        </p:spPr>
        <p:txBody>
          <a:bodyPr wrap="square">
            <a:spAutoFit/>
          </a:bodyPr>
          <a:lstStyle/>
          <a:p>
            <a:pPr algn="ctr"/>
            <a:r>
              <a:rPr lang="ja-JP" altLang="en-US" sz="2400" dirty="0">
                <a:latin typeface="Arial" panose="020B0604020202020204" pitchFamily="34" charset="0"/>
              </a:rPr>
              <a:t>研究目的</a:t>
            </a:r>
            <a:endParaRPr lang="en-US" altLang="ja-JP" sz="2400" dirty="0">
              <a:latin typeface="Arial" panose="020B0604020202020204" pitchFamily="34" charset="0"/>
            </a:endParaRPr>
          </a:p>
          <a:p>
            <a:pPr algn="ctr"/>
            <a:endParaRPr lang="en-US" altLang="ja-JP" sz="2400" dirty="0">
              <a:latin typeface="Arial" panose="020B0604020202020204" pitchFamily="34" charset="0"/>
            </a:endParaRPr>
          </a:p>
          <a:p>
            <a:pPr algn="ctr"/>
            <a:r>
              <a:rPr lang="ja-JP" altLang="en-US" sz="2400" dirty="0">
                <a:latin typeface="Arial" panose="020B0604020202020204" pitchFamily="34" charset="0"/>
              </a:rPr>
              <a:t>電圧形インバータ</a:t>
            </a:r>
            <a:r>
              <a:rPr lang="en-US" altLang="ja-JP" sz="2400" dirty="0">
                <a:latin typeface="Arial" panose="020B0604020202020204" pitchFamily="34" charset="0"/>
              </a:rPr>
              <a:t>(VSI)</a:t>
            </a:r>
            <a:r>
              <a:rPr lang="ja-JP" altLang="en-US" sz="2400" dirty="0">
                <a:latin typeface="Arial" panose="020B0604020202020204" pitchFamily="34" charset="0"/>
              </a:rPr>
              <a:t>の高調波成分を低減しつつ正確な出力応答を達成するための制御手法を検討</a:t>
            </a:r>
            <a:endParaRPr lang="en-US" altLang="ja-JP" sz="2400" dirty="0">
              <a:latin typeface="Arial" panose="020B0604020202020204" pitchFamily="34" charset="0"/>
            </a:endParaRPr>
          </a:p>
          <a:p>
            <a:pPr algn="ctr"/>
            <a:endParaRPr lang="en-US" altLang="ja-JP" sz="2400" dirty="0">
              <a:latin typeface="Arial" panose="020B0604020202020204" pitchFamily="34" charset="0"/>
            </a:endParaRPr>
          </a:p>
          <a:p>
            <a:pPr algn="ctr"/>
            <a:r>
              <a:rPr lang="ja-JP" altLang="en-US" sz="2400" dirty="0"/>
              <a:t>従来の</a:t>
            </a:r>
            <a:r>
              <a:rPr lang="en-US" altLang="ja-JP" sz="2400" dirty="0"/>
              <a:t>PI</a:t>
            </a:r>
            <a:r>
              <a:rPr lang="ja-JP" altLang="en-US" sz="2400" dirty="0"/>
              <a:t>制御には課題がある</a:t>
            </a:r>
            <a:endParaRPr lang="en-US" altLang="ja-JP" sz="2400" dirty="0"/>
          </a:p>
          <a:p>
            <a:pPr algn="ctr"/>
            <a:r>
              <a:rPr lang="ja-JP" altLang="en-US" sz="2400" dirty="0"/>
              <a:t>→モデルへの依存</a:t>
            </a:r>
            <a:endParaRPr lang="en-US" altLang="ja-JP" sz="2400" dirty="0"/>
          </a:p>
          <a:p>
            <a:pPr algn="ctr"/>
            <a:endParaRPr lang="ja-JP" altLang="en-US" sz="2400" dirty="0"/>
          </a:p>
        </p:txBody>
      </p:sp>
      <p:sp>
        <p:nvSpPr>
          <p:cNvPr id="6" name="スライド番号プレースホルダー 5">
            <a:extLst>
              <a:ext uri="{FF2B5EF4-FFF2-40B4-BE49-F238E27FC236}">
                <a16:creationId xmlns:a16="http://schemas.microsoft.com/office/drawing/2014/main" id="{4C406A7C-0523-65B4-B006-D713783B5EC7}"/>
              </a:ext>
            </a:extLst>
          </p:cNvPr>
          <p:cNvSpPr>
            <a:spLocks noGrp="1"/>
          </p:cNvSpPr>
          <p:nvPr>
            <p:ph type="sldNum" sz="quarter" idx="12"/>
          </p:nvPr>
        </p:nvSpPr>
        <p:spPr/>
        <p:txBody>
          <a:bodyPr/>
          <a:lstStyle/>
          <a:p>
            <a:fld id="{F60111BC-1026-41FD-925F-FB719F33286F}" type="slidenum">
              <a:rPr kumimoji="1" lang="ja-JP" altLang="en-US" smtClean="0"/>
              <a:t>4</a:t>
            </a:fld>
            <a:endParaRPr kumimoji="1" lang="ja-JP" altLang="en-US" dirty="0"/>
          </a:p>
        </p:txBody>
      </p:sp>
    </p:spTree>
    <p:extLst>
      <p:ext uri="{BB962C8B-B14F-4D97-AF65-F5344CB8AC3E}">
        <p14:creationId xmlns:p14="http://schemas.microsoft.com/office/powerpoint/2010/main" val="29490034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メイリオフォント">
      <a:majorFont>
        <a:latin typeface="Meiryo UI"/>
        <a:ea typeface="メイリオ"/>
        <a:cs typeface=""/>
      </a:majorFont>
      <a:minorFont>
        <a:latin typeface="Meiryo UI"/>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TotalTime>
  <Words>280</Words>
  <Application>Microsoft Office PowerPoint</Application>
  <PresentationFormat>ワイド画面</PresentationFormat>
  <Paragraphs>37</Paragraphs>
  <Slides>4</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vt:i4>
      </vt:variant>
    </vt:vector>
  </HeadingPairs>
  <TitlesOfParts>
    <vt:vector size="9" baseType="lpstr">
      <vt:lpstr>Meiryo UI</vt:lpstr>
      <vt:lpstr>游ゴシック</vt:lpstr>
      <vt:lpstr>Arial</vt:lpstr>
      <vt:lpstr>Wingdings</vt:lpstr>
      <vt:lpstr>Office テーマ</vt:lpstr>
      <vt:lpstr>PowerPoint プレゼンテーション</vt:lpstr>
      <vt:lpstr>1. 研究概要</vt:lpstr>
      <vt:lpstr>1. 研究概要</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福万　恭平</dc:creator>
  <cp:lastModifiedBy>福万　恭平</cp:lastModifiedBy>
  <cp:revision>6</cp:revision>
  <dcterms:created xsi:type="dcterms:W3CDTF">2026-04-09T02:18:07Z</dcterms:created>
  <dcterms:modified xsi:type="dcterms:W3CDTF">2026-04-09T04:38:49Z</dcterms:modified>
</cp:coreProperties>
</file>